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612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463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463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463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463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1297" y="86839"/>
            <a:ext cx="391667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463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8290" y="746315"/>
            <a:ext cx="5189220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1297" y="86839"/>
            <a:ext cx="4719003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 achievements: Data Science &amp; Analytics</a:t>
            </a:r>
          </a:p>
        </p:txBody>
      </p:sp>
      <p:sp>
        <p:nvSpPr>
          <p:cNvPr id="3" name="object 3"/>
          <p:cNvSpPr/>
          <p:nvPr/>
        </p:nvSpPr>
        <p:spPr>
          <a:xfrm>
            <a:off x="233997" y="474624"/>
            <a:ext cx="5292090" cy="15240"/>
          </a:xfrm>
          <a:custGeom>
            <a:avLst/>
            <a:gdLst/>
            <a:ahLst/>
            <a:cxnLst/>
            <a:rect l="l" t="t" r="r" b="b"/>
            <a:pathLst>
              <a:path w="5292090" h="15240">
                <a:moveTo>
                  <a:pt x="5292001" y="0"/>
                </a:moveTo>
                <a:lnTo>
                  <a:pt x="0" y="0"/>
                </a:lnTo>
                <a:lnTo>
                  <a:pt x="0" y="15189"/>
                </a:lnTo>
                <a:lnTo>
                  <a:pt x="5292001" y="15189"/>
                </a:lnTo>
                <a:lnTo>
                  <a:pt x="5292001" y="0"/>
                </a:lnTo>
                <a:close/>
              </a:path>
            </a:pathLst>
          </a:custGeom>
          <a:solidFill>
            <a:srgbClr val="00685B"/>
          </a:solidFill>
        </p:spPr>
        <p:txBody>
          <a:bodyPr wrap="square" lIns="0" tIns="0" rIns="0" bIns="0" rtlCol="0"/>
          <a:lstStyle/>
          <a:p>
            <a:endParaRPr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3184" y="751433"/>
            <a:ext cx="5393690" cy="501015"/>
          </a:xfrm>
          <a:custGeom>
            <a:avLst/>
            <a:gdLst/>
            <a:ahLst/>
            <a:cxnLst/>
            <a:rect l="l" t="t" r="r" b="b"/>
            <a:pathLst>
              <a:path w="5393690" h="501015">
                <a:moveTo>
                  <a:pt x="5393677" y="44424"/>
                </a:moveTo>
                <a:lnTo>
                  <a:pt x="5392382" y="44424"/>
                </a:lnTo>
                <a:lnTo>
                  <a:pt x="5389677" y="31076"/>
                </a:lnTo>
                <a:lnTo>
                  <a:pt x="5378755" y="14922"/>
                </a:lnTo>
                <a:lnTo>
                  <a:pt x="5362600" y="4013"/>
                </a:lnTo>
                <a:lnTo>
                  <a:pt x="5342877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450151"/>
                </a:lnTo>
                <a:lnTo>
                  <a:pt x="4013" y="469874"/>
                </a:lnTo>
                <a:lnTo>
                  <a:pt x="14922" y="486029"/>
                </a:lnTo>
                <a:lnTo>
                  <a:pt x="31076" y="496938"/>
                </a:lnTo>
                <a:lnTo>
                  <a:pt x="50812" y="500951"/>
                </a:lnTo>
                <a:lnTo>
                  <a:pt x="5342877" y="500951"/>
                </a:lnTo>
                <a:lnTo>
                  <a:pt x="5362600" y="496938"/>
                </a:lnTo>
                <a:lnTo>
                  <a:pt x="5378755" y="486029"/>
                </a:lnTo>
                <a:lnTo>
                  <a:pt x="5389677" y="469874"/>
                </a:lnTo>
                <a:lnTo>
                  <a:pt x="5393677" y="450151"/>
                </a:lnTo>
                <a:lnTo>
                  <a:pt x="5393677" y="82384"/>
                </a:lnTo>
                <a:lnTo>
                  <a:pt x="5393677" y="50800"/>
                </a:lnTo>
                <a:lnTo>
                  <a:pt x="5393677" y="44424"/>
                </a:lnTo>
                <a:close/>
              </a:path>
            </a:pathLst>
          </a:custGeom>
          <a:solidFill>
            <a:srgbClr val="EBF2F8"/>
          </a:solidFill>
        </p:spPr>
        <p:txBody>
          <a:bodyPr wrap="square" lIns="0" tIns="0" rIns="0" bIns="0" rtlCol="0"/>
          <a:lstStyle/>
          <a:p>
            <a:endParaRPr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297" y="827022"/>
            <a:ext cx="1422400" cy="349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b="1" dirty="0">
                <a:solidFill>
                  <a:srgbClr val="2C5A7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PROTECTION &amp; COMPLIANCE</a:t>
            </a:r>
            <a:endParaRPr sz="11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2279" y="807289"/>
            <a:ext cx="3045460" cy="36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Wingdings" panose="05000000000000000000" pitchFamily="2" charset="2"/>
              <a:buChar char="ü"/>
            </a:pPr>
            <a:r>
              <a:rPr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KIPRE registered with ODPC</a:t>
            </a:r>
            <a:endParaRPr lang="en-GB" sz="1100" dirty="0">
              <a:solidFill>
                <a:srgbClr val="2C2C2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Wingdings" panose="05000000000000000000" pitchFamily="2" charset="2"/>
              <a:buChar char="ü"/>
            </a:pPr>
            <a:r>
              <a:rPr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DPO appointed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3184" y="1308226"/>
            <a:ext cx="5393690" cy="543560"/>
          </a:xfrm>
          <a:custGeom>
            <a:avLst/>
            <a:gdLst/>
            <a:ahLst/>
            <a:cxnLst/>
            <a:rect l="l" t="t" r="r" b="b"/>
            <a:pathLst>
              <a:path w="5393690" h="543560">
                <a:moveTo>
                  <a:pt x="5393677" y="44424"/>
                </a:moveTo>
                <a:lnTo>
                  <a:pt x="5392382" y="44424"/>
                </a:lnTo>
                <a:lnTo>
                  <a:pt x="5389677" y="31076"/>
                </a:lnTo>
                <a:lnTo>
                  <a:pt x="5378755" y="14922"/>
                </a:lnTo>
                <a:lnTo>
                  <a:pt x="5362600" y="4013"/>
                </a:lnTo>
                <a:lnTo>
                  <a:pt x="5342877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12"/>
                </a:lnTo>
                <a:lnTo>
                  <a:pt x="0" y="82384"/>
                </a:lnTo>
                <a:lnTo>
                  <a:pt x="0" y="492277"/>
                </a:lnTo>
                <a:lnTo>
                  <a:pt x="4013" y="512000"/>
                </a:lnTo>
                <a:lnTo>
                  <a:pt x="14922" y="528154"/>
                </a:lnTo>
                <a:lnTo>
                  <a:pt x="31076" y="539064"/>
                </a:lnTo>
                <a:lnTo>
                  <a:pt x="50812" y="543077"/>
                </a:lnTo>
                <a:lnTo>
                  <a:pt x="5342877" y="543077"/>
                </a:lnTo>
                <a:lnTo>
                  <a:pt x="5362600" y="539064"/>
                </a:lnTo>
                <a:lnTo>
                  <a:pt x="5378755" y="528154"/>
                </a:lnTo>
                <a:lnTo>
                  <a:pt x="5389677" y="512000"/>
                </a:lnTo>
                <a:lnTo>
                  <a:pt x="5393677" y="492277"/>
                </a:lnTo>
                <a:lnTo>
                  <a:pt x="5393677" y="82384"/>
                </a:lnTo>
                <a:lnTo>
                  <a:pt x="5393677" y="50812"/>
                </a:lnTo>
                <a:lnTo>
                  <a:pt x="5393677" y="44424"/>
                </a:lnTo>
                <a:close/>
              </a:path>
            </a:pathLst>
          </a:custGeom>
          <a:solidFill>
            <a:srgbClr val="EBF6EF"/>
          </a:solidFill>
        </p:spPr>
        <p:txBody>
          <a:bodyPr wrap="square" lIns="0" tIns="0" rIns="0" bIns="0" rtlCol="0"/>
          <a:lstStyle/>
          <a:p>
            <a:endParaRPr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297" y="1495601"/>
            <a:ext cx="146494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3370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GOVERNANCE</a:t>
            </a:r>
            <a:endParaRPr sz="11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3677" y="1343175"/>
            <a:ext cx="263271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Wingdings" panose="05000000000000000000" pitchFamily="2" charset="2"/>
              <a:buChar char="ü"/>
            </a:pPr>
            <a:r>
              <a:rPr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Governance Framework submitted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4150" indent="-171450">
              <a:lnSpc>
                <a:spcPct val="100000"/>
              </a:lnSpc>
              <a:spcBef>
                <a:spcPts val="35"/>
              </a:spcBef>
              <a:buFont typeface="Wingdings" panose="05000000000000000000" pitchFamily="2" charset="2"/>
              <a:buChar char="ü"/>
            </a:pPr>
            <a:r>
              <a:rPr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Governance Champions mapped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3184" y="1907146"/>
            <a:ext cx="5393690" cy="551180"/>
          </a:xfrm>
          <a:custGeom>
            <a:avLst/>
            <a:gdLst/>
            <a:ahLst/>
            <a:cxnLst/>
            <a:rect l="l" t="t" r="r" b="b"/>
            <a:pathLst>
              <a:path w="5393690" h="551180">
                <a:moveTo>
                  <a:pt x="5393677" y="44424"/>
                </a:moveTo>
                <a:lnTo>
                  <a:pt x="5392382" y="44424"/>
                </a:lnTo>
                <a:lnTo>
                  <a:pt x="5389677" y="31076"/>
                </a:lnTo>
                <a:lnTo>
                  <a:pt x="5378755" y="14922"/>
                </a:lnTo>
                <a:lnTo>
                  <a:pt x="5362600" y="4013"/>
                </a:lnTo>
                <a:lnTo>
                  <a:pt x="5342877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12"/>
                </a:lnTo>
                <a:lnTo>
                  <a:pt x="0" y="82384"/>
                </a:lnTo>
                <a:lnTo>
                  <a:pt x="0" y="499973"/>
                </a:lnTo>
                <a:lnTo>
                  <a:pt x="4013" y="519696"/>
                </a:lnTo>
                <a:lnTo>
                  <a:pt x="14922" y="535851"/>
                </a:lnTo>
                <a:lnTo>
                  <a:pt x="31076" y="546760"/>
                </a:lnTo>
                <a:lnTo>
                  <a:pt x="50812" y="550773"/>
                </a:lnTo>
                <a:lnTo>
                  <a:pt x="5342877" y="550773"/>
                </a:lnTo>
                <a:lnTo>
                  <a:pt x="5362600" y="546760"/>
                </a:lnTo>
                <a:lnTo>
                  <a:pt x="5378755" y="535851"/>
                </a:lnTo>
                <a:lnTo>
                  <a:pt x="5389677" y="519696"/>
                </a:lnTo>
                <a:lnTo>
                  <a:pt x="5393677" y="499973"/>
                </a:lnTo>
                <a:lnTo>
                  <a:pt x="5393677" y="82384"/>
                </a:lnTo>
                <a:lnTo>
                  <a:pt x="5393677" y="50812"/>
                </a:lnTo>
                <a:lnTo>
                  <a:pt x="5393677" y="44424"/>
                </a:lnTo>
                <a:close/>
              </a:path>
            </a:pathLst>
          </a:custGeom>
          <a:solidFill>
            <a:srgbClr val="FAF3E7"/>
          </a:solidFill>
        </p:spPr>
        <p:txBody>
          <a:bodyPr wrap="square" lIns="0" tIns="0" rIns="0" bIns="0" rtlCol="0"/>
          <a:lstStyle/>
          <a:p>
            <a:endParaRPr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1297" y="2098356"/>
            <a:ext cx="16548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A568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ANALYTICS</a:t>
            </a:r>
            <a:endParaRPr sz="11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2279" y="1912181"/>
            <a:ext cx="2846070" cy="541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 typeface="Wingdings" panose="05000000000000000000" pitchFamily="2" charset="2"/>
              <a:buChar char="ü"/>
            </a:pPr>
            <a:r>
              <a:rPr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24 SOPs developed &amp; operationalized </a:t>
            </a:r>
            <a:endParaRPr lang="en-GB" sz="1100" dirty="0">
              <a:solidFill>
                <a:srgbClr val="2C2C2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 typeface="Wingdings" panose="05000000000000000000" pitchFamily="2" charset="2"/>
              <a:buChar char="ü"/>
            </a:pPr>
            <a:r>
              <a:rPr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&gt;10 </a:t>
            </a:r>
            <a:r>
              <a:rPr lang="en-GB"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projects</a:t>
            </a:r>
            <a:r>
              <a:rPr lang="en-KE"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supported</a:t>
            </a:r>
            <a:r>
              <a:rPr lang="en-KE"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GB" sz="1100" dirty="0">
              <a:solidFill>
                <a:srgbClr val="2C2C2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 typeface="Wingdings" panose="05000000000000000000" pitchFamily="2" charset="2"/>
              <a:buChar char="ü"/>
            </a:pPr>
            <a:r>
              <a:rPr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&gt;35 Staff trained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3184" y="2535351"/>
            <a:ext cx="5393690" cy="593725"/>
          </a:xfrm>
          <a:custGeom>
            <a:avLst/>
            <a:gdLst/>
            <a:ahLst/>
            <a:cxnLst/>
            <a:rect l="l" t="t" r="r" b="b"/>
            <a:pathLst>
              <a:path w="5393690" h="593725">
                <a:moveTo>
                  <a:pt x="5393677" y="44424"/>
                </a:moveTo>
                <a:lnTo>
                  <a:pt x="5392382" y="44424"/>
                </a:lnTo>
                <a:lnTo>
                  <a:pt x="5389677" y="31076"/>
                </a:lnTo>
                <a:lnTo>
                  <a:pt x="5378755" y="14922"/>
                </a:lnTo>
                <a:lnTo>
                  <a:pt x="5362600" y="4013"/>
                </a:lnTo>
                <a:lnTo>
                  <a:pt x="5342877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12"/>
                </a:lnTo>
                <a:lnTo>
                  <a:pt x="0" y="82384"/>
                </a:lnTo>
                <a:lnTo>
                  <a:pt x="0" y="542899"/>
                </a:lnTo>
                <a:lnTo>
                  <a:pt x="4013" y="562622"/>
                </a:lnTo>
                <a:lnTo>
                  <a:pt x="14922" y="578777"/>
                </a:lnTo>
                <a:lnTo>
                  <a:pt x="31076" y="589686"/>
                </a:lnTo>
                <a:lnTo>
                  <a:pt x="50812" y="593699"/>
                </a:lnTo>
                <a:lnTo>
                  <a:pt x="5342877" y="593699"/>
                </a:lnTo>
                <a:lnTo>
                  <a:pt x="5362600" y="589686"/>
                </a:lnTo>
                <a:lnTo>
                  <a:pt x="5378755" y="578777"/>
                </a:lnTo>
                <a:lnTo>
                  <a:pt x="5389677" y="562622"/>
                </a:lnTo>
                <a:lnTo>
                  <a:pt x="5393677" y="542899"/>
                </a:lnTo>
                <a:lnTo>
                  <a:pt x="5393677" y="82384"/>
                </a:lnTo>
                <a:lnTo>
                  <a:pt x="5393677" y="50812"/>
                </a:lnTo>
                <a:lnTo>
                  <a:pt x="5393677" y="44424"/>
                </a:lnTo>
                <a:close/>
              </a:path>
            </a:pathLst>
          </a:custGeom>
          <a:solidFill>
            <a:srgbClr val="E7F3F2"/>
          </a:solidFill>
        </p:spPr>
        <p:txBody>
          <a:bodyPr wrap="square" lIns="0" tIns="0" rIns="0" bIns="0" rtlCol="0"/>
          <a:lstStyle/>
          <a:p>
            <a:endParaRPr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8300" y="2668089"/>
            <a:ext cx="5105399" cy="38664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866775" marR="5080" indent="-854710" algn="ctr">
              <a:lnSpc>
                <a:spcPts val="1350"/>
              </a:lnSpc>
              <a:spcBef>
                <a:spcPts val="215"/>
              </a:spcBef>
            </a:pPr>
            <a:r>
              <a:rPr sz="1200" b="1" i="1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Institutional capability established for governed, protected and analytically enabled research</a:t>
            </a:r>
            <a:endParaRPr sz="1200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1297" y="86839"/>
            <a:ext cx="4871403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Capacity challenges for the expanded mandate</a:t>
            </a:r>
          </a:p>
        </p:txBody>
      </p:sp>
      <p:sp>
        <p:nvSpPr>
          <p:cNvPr id="3" name="object 3"/>
          <p:cNvSpPr/>
          <p:nvPr/>
        </p:nvSpPr>
        <p:spPr>
          <a:xfrm>
            <a:off x="233997" y="474624"/>
            <a:ext cx="5292090" cy="15240"/>
          </a:xfrm>
          <a:custGeom>
            <a:avLst/>
            <a:gdLst/>
            <a:ahLst/>
            <a:cxnLst/>
            <a:rect l="l" t="t" r="r" b="b"/>
            <a:pathLst>
              <a:path w="5292090" h="15240">
                <a:moveTo>
                  <a:pt x="5292001" y="0"/>
                </a:moveTo>
                <a:lnTo>
                  <a:pt x="0" y="0"/>
                </a:lnTo>
                <a:lnTo>
                  <a:pt x="0" y="15189"/>
                </a:lnTo>
                <a:lnTo>
                  <a:pt x="5292001" y="15189"/>
                </a:lnTo>
                <a:lnTo>
                  <a:pt x="5292001" y="0"/>
                </a:lnTo>
                <a:close/>
              </a:path>
            </a:pathLst>
          </a:custGeom>
          <a:solidFill>
            <a:srgbClr val="006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3184" y="617715"/>
            <a:ext cx="1742439" cy="1338580"/>
          </a:xfrm>
          <a:custGeom>
            <a:avLst/>
            <a:gdLst/>
            <a:ahLst/>
            <a:cxnLst/>
            <a:rect l="l" t="t" r="r" b="b"/>
            <a:pathLst>
              <a:path w="1742439" h="1338580">
                <a:moveTo>
                  <a:pt x="1742135" y="44424"/>
                </a:moveTo>
                <a:lnTo>
                  <a:pt x="1740827" y="44424"/>
                </a:lnTo>
                <a:lnTo>
                  <a:pt x="1738122" y="31076"/>
                </a:lnTo>
                <a:lnTo>
                  <a:pt x="1727212" y="14922"/>
                </a:lnTo>
                <a:lnTo>
                  <a:pt x="1711058" y="4013"/>
                </a:lnTo>
                <a:lnTo>
                  <a:pt x="1691335" y="0"/>
                </a:lnTo>
                <a:lnTo>
                  <a:pt x="50800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12"/>
                </a:lnTo>
                <a:lnTo>
                  <a:pt x="0" y="82384"/>
                </a:lnTo>
                <a:lnTo>
                  <a:pt x="0" y="1287373"/>
                </a:lnTo>
                <a:lnTo>
                  <a:pt x="4013" y="1307096"/>
                </a:lnTo>
                <a:lnTo>
                  <a:pt x="14922" y="1323251"/>
                </a:lnTo>
                <a:lnTo>
                  <a:pt x="31076" y="1334160"/>
                </a:lnTo>
                <a:lnTo>
                  <a:pt x="50800" y="1338173"/>
                </a:lnTo>
                <a:lnTo>
                  <a:pt x="1691335" y="1338173"/>
                </a:lnTo>
                <a:lnTo>
                  <a:pt x="1711058" y="1334160"/>
                </a:lnTo>
                <a:lnTo>
                  <a:pt x="1727212" y="1323251"/>
                </a:lnTo>
                <a:lnTo>
                  <a:pt x="1738122" y="1307096"/>
                </a:lnTo>
                <a:lnTo>
                  <a:pt x="1742135" y="1287373"/>
                </a:lnTo>
                <a:lnTo>
                  <a:pt x="1742135" y="82384"/>
                </a:lnTo>
                <a:lnTo>
                  <a:pt x="1742135" y="50812"/>
                </a:lnTo>
                <a:lnTo>
                  <a:pt x="1742135" y="44424"/>
                </a:lnTo>
                <a:close/>
              </a:path>
            </a:pathLst>
          </a:custGeom>
          <a:solidFill>
            <a:srgbClr val="EBF2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1293" y="740078"/>
            <a:ext cx="1471219" cy="945772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199390">
              <a:lnSpc>
                <a:spcPts val="1350"/>
              </a:lnSpc>
              <a:spcBef>
                <a:spcPts val="215"/>
              </a:spcBef>
            </a:pPr>
            <a:r>
              <a:rPr sz="1200" dirty="0">
                <a:solidFill>
                  <a:srgbClr val="2C5A7D"/>
                </a:solidFill>
                <a:latin typeface="Arial Black"/>
                <a:cs typeface="Arial Black"/>
              </a:rPr>
              <a:t>EXPANDED MANDATE</a:t>
            </a:r>
            <a:endParaRPr sz="1200" dirty="0">
              <a:latin typeface="Arial Black"/>
              <a:cs typeface="Arial Black"/>
            </a:endParaRPr>
          </a:p>
          <a:p>
            <a:pPr marL="184150" indent="-171450">
              <a:lnSpc>
                <a:spcPct val="100000"/>
              </a:lnSpc>
              <a:spcBef>
                <a:spcPts val="440"/>
              </a:spcBef>
              <a:buFont typeface="Wingdings" panose="05000000000000000000" pitchFamily="2" charset="2"/>
              <a:buChar char="v"/>
              <a:tabLst>
                <a:tab pos="104775" algn="l"/>
              </a:tabLst>
            </a:pPr>
            <a:r>
              <a:rPr sz="1100" dirty="0">
                <a:solidFill>
                  <a:srgbClr val="2C2C2C"/>
                </a:solidFill>
                <a:latin typeface="Tahoma"/>
                <a:cs typeface="Tahoma"/>
              </a:rPr>
              <a:t>Research data</a:t>
            </a:r>
            <a:endParaRPr sz="1100" dirty="0">
              <a:latin typeface="Tahoma"/>
              <a:cs typeface="Tahoma"/>
            </a:endParaRPr>
          </a:p>
          <a:p>
            <a:pPr marL="184150" indent="-171450">
              <a:lnSpc>
                <a:spcPct val="100000"/>
              </a:lnSpc>
              <a:spcBef>
                <a:spcPts val="35"/>
              </a:spcBef>
              <a:buFont typeface="Wingdings" panose="05000000000000000000" pitchFamily="2" charset="2"/>
              <a:buChar char="v"/>
              <a:tabLst>
                <a:tab pos="104775" algn="l"/>
              </a:tabLst>
            </a:pPr>
            <a:r>
              <a:rPr sz="1100" dirty="0">
                <a:solidFill>
                  <a:srgbClr val="2C2C2C"/>
                </a:solidFill>
                <a:latin typeface="Tahoma"/>
                <a:cs typeface="Tahoma"/>
              </a:rPr>
              <a:t>Analytics</a:t>
            </a:r>
            <a:endParaRPr sz="1100" dirty="0">
              <a:latin typeface="Tahoma"/>
              <a:cs typeface="Tahoma"/>
            </a:endParaRPr>
          </a:p>
          <a:p>
            <a:pPr marL="184150" indent="-171450">
              <a:lnSpc>
                <a:spcPct val="100000"/>
              </a:lnSpc>
              <a:spcBef>
                <a:spcPts val="35"/>
              </a:spcBef>
              <a:buFont typeface="Wingdings" panose="05000000000000000000" pitchFamily="2" charset="2"/>
              <a:buChar char="v"/>
              <a:tabLst>
                <a:tab pos="104775" algn="l"/>
              </a:tabLst>
            </a:pPr>
            <a:r>
              <a:rPr sz="1100" dirty="0">
                <a:solidFill>
                  <a:srgbClr val="2C2C2C"/>
                </a:solidFill>
                <a:latin typeface="Tahoma"/>
                <a:cs typeface="Tahoma"/>
              </a:rPr>
              <a:t>Data governance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82375" y="627121"/>
            <a:ext cx="1742439" cy="1338580"/>
          </a:xfrm>
          <a:custGeom>
            <a:avLst/>
            <a:gdLst/>
            <a:ahLst/>
            <a:cxnLst/>
            <a:rect l="l" t="t" r="r" b="b"/>
            <a:pathLst>
              <a:path w="1742439" h="1338580">
                <a:moveTo>
                  <a:pt x="1742135" y="44424"/>
                </a:moveTo>
                <a:lnTo>
                  <a:pt x="1740827" y="44424"/>
                </a:lnTo>
                <a:lnTo>
                  <a:pt x="1738122" y="31076"/>
                </a:lnTo>
                <a:lnTo>
                  <a:pt x="1727212" y="14922"/>
                </a:lnTo>
                <a:lnTo>
                  <a:pt x="1711058" y="4013"/>
                </a:lnTo>
                <a:lnTo>
                  <a:pt x="1691335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12"/>
                </a:lnTo>
                <a:lnTo>
                  <a:pt x="0" y="82384"/>
                </a:lnTo>
                <a:lnTo>
                  <a:pt x="0" y="1287373"/>
                </a:lnTo>
                <a:lnTo>
                  <a:pt x="4013" y="1307096"/>
                </a:lnTo>
                <a:lnTo>
                  <a:pt x="14922" y="1323251"/>
                </a:lnTo>
                <a:lnTo>
                  <a:pt x="31076" y="1334160"/>
                </a:lnTo>
                <a:lnTo>
                  <a:pt x="50812" y="1338173"/>
                </a:lnTo>
                <a:lnTo>
                  <a:pt x="1691335" y="1338173"/>
                </a:lnTo>
                <a:lnTo>
                  <a:pt x="1711058" y="1334160"/>
                </a:lnTo>
                <a:lnTo>
                  <a:pt x="1727212" y="1323251"/>
                </a:lnTo>
                <a:lnTo>
                  <a:pt x="1738122" y="1307096"/>
                </a:lnTo>
                <a:lnTo>
                  <a:pt x="1742135" y="1287373"/>
                </a:lnTo>
                <a:lnTo>
                  <a:pt x="1742135" y="82384"/>
                </a:lnTo>
                <a:lnTo>
                  <a:pt x="1742135" y="50812"/>
                </a:lnTo>
                <a:lnTo>
                  <a:pt x="1742135" y="44424"/>
                </a:lnTo>
                <a:close/>
              </a:path>
            </a:pathLst>
          </a:custGeom>
          <a:solidFill>
            <a:srgbClr val="EBF6EF"/>
          </a:solidFill>
        </p:spPr>
        <p:txBody>
          <a:bodyPr wrap="square" lIns="0" tIns="0" rIns="0" bIns="0" rtlCol="0"/>
          <a:lstStyle/>
          <a:p>
            <a:pPr algn="l"/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002026" y="740078"/>
            <a:ext cx="1719074" cy="83356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sz="1200" dirty="0">
                <a:solidFill>
                  <a:srgbClr val="337047"/>
                </a:solidFill>
                <a:latin typeface="Arial Black"/>
                <a:cs typeface="Arial Black"/>
              </a:rPr>
              <a:t>CAPACITY GAP</a:t>
            </a:r>
            <a:endParaRPr sz="1200" dirty="0">
              <a:latin typeface="Arial Black"/>
              <a:cs typeface="Arial Black"/>
            </a:endParaRPr>
          </a:p>
          <a:p>
            <a:pPr marL="263525" indent="-171450">
              <a:lnSpc>
                <a:spcPct val="100000"/>
              </a:lnSpc>
              <a:spcBef>
                <a:spcPts val="430"/>
              </a:spcBef>
              <a:buFont typeface="Wingdings" panose="05000000000000000000" pitchFamily="2" charset="2"/>
              <a:buChar char="v"/>
              <a:tabLst>
                <a:tab pos="179388" algn="l"/>
              </a:tabLst>
            </a:pPr>
            <a:r>
              <a:rPr sz="1100" dirty="0">
                <a:solidFill>
                  <a:srgbClr val="2C2C2C"/>
                </a:solidFill>
                <a:latin typeface="Tahoma"/>
                <a:cs typeface="Tahoma"/>
              </a:rPr>
              <a:t>Specialized personnel</a:t>
            </a:r>
            <a:endParaRPr sz="1100" dirty="0">
              <a:latin typeface="Tahoma"/>
              <a:cs typeface="Tahoma"/>
            </a:endParaRPr>
          </a:p>
          <a:p>
            <a:pPr marL="263525" indent="-171450">
              <a:lnSpc>
                <a:spcPct val="100000"/>
              </a:lnSpc>
              <a:spcBef>
                <a:spcPts val="35"/>
              </a:spcBef>
              <a:buFont typeface="Wingdings" panose="05000000000000000000" pitchFamily="2" charset="2"/>
              <a:buChar char="v"/>
              <a:tabLst>
                <a:tab pos="179388" algn="l"/>
              </a:tabLst>
            </a:pPr>
            <a:r>
              <a:rPr sz="1100" dirty="0">
                <a:solidFill>
                  <a:srgbClr val="2C2C2C"/>
                </a:solidFill>
                <a:latin typeface="Tahoma"/>
                <a:cs typeface="Tahoma"/>
              </a:rPr>
              <a:t>Digital infrastructure</a:t>
            </a:r>
            <a:endParaRPr sz="1100" dirty="0">
              <a:latin typeface="Tahoma"/>
              <a:cs typeface="Tahoma"/>
            </a:endParaRPr>
          </a:p>
          <a:p>
            <a:pPr marL="263525" indent="-171450">
              <a:lnSpc>
                <a:spcPct val="100000"/>
              </a:lnSpc>
              <a:spcBef>
                <a:spcPts val="35"/>
              </a:spcBef>
              <a:buFont typeface="Wingdings" panose="05000000000000000000" pitchFamily="2" charset="2"/>
              <a:buChar char="v"/>
              <a:tabLst>
                <a:tab pos="179388" algn="l"/>
              </a:tabLst>
            </a:pPr>
            <a:r>
              <a:rPr sz="1100" dirty="0">
                <a:solidFill>
                  <a:srgbClr val="2C2C2C"/>
                </a:solidFill>
                <a:latin typeface="Tahoma"/>
                <a:cs typeface="Tahoma"/>
              </a:rPr>
              <a:t>Governance capacity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1159" y="613012"/>
            <a:ext cx="1742439" cy="1347986"/>
          </a:xfrm>
          <a:custGeom>
            <a:avLst/>
            <a:gdLst/>
            <a:ahLst/>
            <a:cxnLst/>
            <a:rect l="l" t="t" r="r" b="b"/>
            <a:pathLst>
              <a:path w="1742439" h="1338580">
                <a:moveTo>
                  <a:pt x="1742135" y="44424"/>
                </a:moveTo>
                <a:lnTo>
                  <a:pt x="1740827" y="44424"/>
                </a:lnTo>
                <a:lnTo>
                  <a:pt x="1738122" y="31076"/>
                </a:lnTo>
                <a:lnTo>
                  <a:pt x="1727212" y="14922"/>
                </a:lnTo>
                <a:lnTo>
                  <a:pt x="1711058" y="4013"/>
                </a:lnTo>
                <a:lnTo>
                  <a:pt x="1691335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12"/>
                </a:lnTo>
                <a:lnTo>
                  <a:pt x="0" y="82384"/>
                </a:lnTo>
                <a:lnTo>
                  <a:pt x="0" y="1287373"/>
                </a:lnTo>
                <a:lnTo>
                  <a:pt x="4013" y="1307096"/>
                </a:lnTo>
                <a:lnTo>
                  <a:pt x="14922" y="1323251"/>
                </a:lnTo>
                <a:lnTo>
                  <a:pt x="31076" y="1334160"/>
                </a:lnTo>
                <a:lnTo>
                  <a:pt x="50812" y="1338173"/>
                </a:lnTo>
                <a:lnTo>
                  <a:pt x="1691335" y="1338173"/>
                </a:lnTo>
                <a:lnTo>
                  <a:pt x="1711058" y="1334160"/>
                </a:lnTo>
                <a:lnTo>
                  <a:pt x="1727212" y="1323251"/>
                </a:lnTo>
                <a:lnTo>
                  <a:pt x="1738122" y="1307096"/>
                </a:lnTo>
                <a:lnTo>
                  <a:pt x="1742135" y="1287373"/>
                </a:lnTo>
                <a:lnTo>
                  <a:pt x="1742135" y="82384"/>
                </a:lnTo>
                <a:lnTo>
                  <a:pt x="1742135" y="50812"/>
                </a:lnTo>
                <a:lnTo>
                  <a:pt x="1742135" y="44424"/>
                </a:lnTo>
                <a:close/>
              </a:path>
            </a:pathLst>
          </a:custGeom>
          <a:solidFill>
            <a:srgbClr val="FAF3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04881" y="690407"/>
            <a:ext cx="1595691" cy="106298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algn="l">
              <a:spcBef>
                <a:spcPts val="135"/>
              </a:spcBef>
            </a:pPr>
            <a:r>
              <a:rPr lang="en-GB" sz="1100" spc="-50" dirty="0">
                <a:solidFill>
                  <a:srgbClr val="A56822"/>
                </a:solidFill>
                <a:latin typeface="Arial Black"/>
                <a:cs typeface="Arial Black"/>
              </a:rPr>
              <a:t>INVESTMENT</a:t>
            </a:r>
            <a:endParaRPr lang="en-GB" sz="1100" dirty="0">
              <a:latin typeface="Arial Black"/>
              <a:cs typeface="Arial Black"/>
            </a:endParaRPr>
          </a:p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lang="en-GB" sz="1100" spc="-55" dirty="0">
                <a:solidFill>
                  <a:srgbClr val="A56822"/>
                </a:solidFill>
                <a:latin typeface="Arial Black"/>
                <a:cs typeface="Arial Black"/>
              </a:rPr>
              <a:t>PRIORITY</a:t>
            </a:r>
            <a:endParaRPr lang="en-GB" sz="1100" spc="-25" dirty="0">
              <a:solidFill>
                <a:srgbClr val="2C2C2C"/>
              </a:solidFill>
              <a:latin typeface="Tahoma"/>
              <a:cs typeface="Tahoma"/>
            </a:endParaRPr>
          </a:p>
          <a:p>
            <a:pPr marL="184150" indent="-171450" algn="l">
              <a:lnSpc>
                <a:spcPct val="100000"/>
              </a:lnSpc>
              <a:spcBef>
                <a:spcPts val="90"/>
              </a:spcBef>
              <a:buFont typeface="Wingdings" panose="05000000000000000000" pitchFamily="2" charset="2"/>
              <a:buChar char="v"/>
              <a:tabLst>
                <a:tab pos="104775" algn="l"/>
              </a:tabLst>
            </a:pPr>
            <a:r>
              <a:rPr sz="1100" dirty="0">
                <a:solidFill>
                  <a:srgbClr val="2C2C2C"/>
                </a:solidFill>
                <a:latin typeface="Tahoma"/>
                <a:cs typeface="Tahoma"/>
              </a:rPr>
              <a:t>Human resources</a:t>
            </a:r>
            <a:endParaRPr sz="1100" dirty="0">
              <a:latin typeface="Tahoma"/>
              <a:cs typeface="Tahoma"/>
            </a:endParaRPr>
          </a:p>
          <a:p>
            <a:pPr marL="184150" marR="166370" indent="-171450" algn="l">
              <a:lnSpc>
                <a:spcPct val="102600"/>
              </a:lnSpc>
              <a:buFont typeface="Wingdings" panose="05000000000000000000" pitchFamily="2" charset="2"/>
              <a:buChar char="v"/>
              <a:tabLst>
                <a:tab pos="104775" algn="l"/>
              </a:tabLst>
            </a:pPr>
            <a:r>
              <a:rPr sz="1100" dirty="0">
                <a:solidFill>
                  <a:srgbClr val="2C2C2C"/>
                </a:solidFill>
                <a:latin typeface="Tahoma"/>
                <a:cs typeface="Tahoma"/>
              </a:rPr>
              <a:t>Computing &amp; data</a:t>
            </a:r>
            <a:r>
              <a:rPr lang="en-GB" sz="1100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C2C2C"/>
                </a:solidFill>
                <a:latin typeface="Tahoma"/>
                <a:cs typeface="Tahoma"/>
              </a:rPr>
              <a:t>systems</a:t>
            </a:r>
            <a:endParaRPr sz="1100" dirty="0">
              <a:latin typeface="Tahoma"/>
              <a:cs typeface="Tahoma"/>
            </a:endParaRPr>
          </a:p>
          <a:p>
            <a:pPr marL="184150" indent="-171450" algn="l">
              <a:lnSpc>
                <a:spcPct val="100000"/>
              </a:lnSpc>
              <a:spcBef>
                <a:spcPts val="35"/>
              </a:spcBef>
              <a:buFont typeface="Wingdings" panose="05000000000000000000" pitchFamily="2" charset="2"/>
              <a:buChar char="v"/>
              <a:tabLst>
                <a:tab pos="104775" algn="l"/>
              </a:tabLst>
            </a:pPr>
            <a:r>
              <a:rPr sz="1100" dirty="0">
                <a:solidFill>
                  <a:srgbClr val="2C2C2C"/>
                </a:solidFill>
                <a:latin typeface="Tahoma"/>
                <a:cs typeface="Tahoma"/>
              </a:rPr>
              <a:t>IDGF implementation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3184" y="2584526"/>
            <a:ext cx="5393690" cy="588645"/>
          </a:xfrm>
          <a:custGeom>
            <a:avLst/>
            <a:gdLst/>
            <a:ahLst/>
            <a:cxnLst/>
            <a:rect l="l" t="t" r="r" b="b"/>
            <a:pathLst>
              <a:path w="5393690" h="588644">
                <a:moveTo>
                  <a:pt x="5393677" y="44424"/>
                </a:moveTo>
                <a:lnTo>
                  <a:pt x="5392382" y="44424"/>
                </a:lnTo>
                <a:lnTo>
                  <a:pt x="5389677" y="31076"/>
                </a:lnTo>
                <a:lnTo>
                  <a:pt x="5378755" y="14922"/>
                </a:lnTo>
                <a:lnTo>
                  <a:pt x="5362600" y="4013"/>
                </a:lnTo>
                <a:lnTo>
                  <a:pt x="5342877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12"/>
                </a:lnTo>
                <a:lnTo>
                  <a:pt x="0" y="82384"/>
                </a:lnTo>
                <a:lnTo>
                  <a:pt x="0" y="537845"/>
                </a:lnTo>
                <a:lnTo>
                  <a:pt x="4013" y="557568"/>
                </a:lnTo>
                <a:lnTo>
                  <a:pt x="14922" y="573722"/>
                </a:lnTo>
                <a:lnTo>
                  <a:pt x="31076" y="584631"/>
                </a:lnTo>
                <a:lnTo>
                  <a:pt x="50812" y="588645"/>
                </a:lnTo>
                <a:lnTo>
                  <a:pt x="5342877" y="588645"/>
                </a:lnTo>
                <a:lnTo>
                  <a:pt x="5362600" y="584631"/>
                </a:lnTo>
                <a:lnTo>
                  <a:pt x="5378755" y="573722"/>
                </a:lnTo>
                <a:lnTo>
                  <a:pt x="5389677" y="557568"/>
                </a:lnTo>
                <a:lnTo>
                  <a:pt x="5393677" y="537845"/>
                </a:lnTo>
                <a:lnTo>
                  <a:pt x="5393677" y="82384"/>
                </a:lnTo>
                <a:lnTo>
                  <a:pt x="5393677" y="50812"/>
                </a:lnTo>
                <a:lnTo>
                  <a:pt x="5393677" y="44424"/>
                </a:lnTo>
                <a:close/>
              </a:path>
            </a:pathLst>
          </a:custGeom>
          <a:solidFill>
            <a:srgbClr val="E7F3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5234" y="2124251"/>
            <a:ext cx="5309870" cy="88408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2699"/>
              </a:lnSpc>
              <a:spcBef>
                <a:spcPts val="55"/>
              </a:spcBef>
              <a:tabLst>
                <a:tab pos="2563495" algn="l"/>
              </a:tabLst>
            </a:pPr>
            <a:r>
              <a:rPr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Institution-wide capacity assessment:</a:t>
            </a:r>
            <a:r>
              <a:rPr lang="en-GB"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100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80 of 189 staff assessed across 23 divisions and 7 directorates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lnSpc>
                <a:spcPct val="100000"/>
              </a:lnSpc>
            </a:pP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065" marR="258445" algn="ctr">
              <a:lnSpc>
                <a:spcPts val="1350"/>
              </a:lnSpc>
            </a:pPr>
            <a:r>
              <a:rPr sz="1200" b="1" i="1" dirty="0">
                <a:solidFill>
                  <a:srgbClr val="2C2C2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Priority: Align institutional capacity and infrastructure with KIPRE’s expanded mandate</a:t>
            </a:r>
            <a:endParaRPr sz="1200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109</Words>
  <Application>Microsoft Office PowerPoint</Application>
  <PresentationFormat>Custom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 Black</vt:lpstr>
      <vt:lpstr>Calibri</vt:lpstr>
      <vt:lpstr>Tahoma</vt:lpstr>
      <vt:lpstr>Wingdings</vt:lpstr>
      <vt:lpstr>Office Theme</vt:lpstr>
      <vt:lpstr>Key achievements: Data Science &amp; Analytics</vt:lpstr>
      <vt:lpstr>Capacity challenges for the expanded mandate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Kenya Institute of Primate Research [0.2em] Key Achievements and Capacity Requirements  - Supplementary Budget Presentation to the Parliamentary Committee on Health</dc:title>
  <dc:creator>Kenya Institute of Primate Research (KIPRE)</dc:creator>
  <cp:lastModifiedBy>Mwaura, Patrick (ILRI)</cp:lastModifiedBy>
  <cp:revision>1</cp:revision>
  <dcterms:created xsi:type="dcterms:W3CDTF">2026-09-30T05:05:41Z</dcterms:created>
  <dcterms:modified xsi:type="dcterms:W3CDTF">2026-09-30T05:38:49Z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2026-09-30T00:00:00Z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2026-09-30T00:00:00Z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