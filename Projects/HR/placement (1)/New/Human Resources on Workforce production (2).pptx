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1"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561144D-D0BB-484F-9050-76C8016FDA98}" v="6" dt="2024-10-09T12:39:26.3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35" autoAdjust="0"/>
    <p:restoredTop sz="94660"/>
  </p:normalViewPr>
  <p:slideViewPr>
    <p:cSldViewPr snapToGrid="0">
      <p:cViewPr varScale="1">
        <p:scale>
          <a:sx n="105" d="100"/>
          <a:sy n="105" d="100"/>
        </p:scale>
        <p:origin x="82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051821F-2319-41AD-9FBD-073680D2195A}" type="datetimeFigureOut">
              <a:rPr lang="en-KE" smtClean="0"/>
              <a:t>10/10/2024</a:t>
            </a:fld>
            <a:endParaRPr lang="en-KE"/>
          </a:p>
        </p:txBody>
      </p:sp>
      <p:sp>
        <p:nvSpPr>
          <p:cNvPr id="5" name="Footer Placeholder 4"/>
          <p:cNvSpPr>
            <a:spLocks noGrp="1"/>
          </p:cNvSpPr>
          <p:nvPr>
            <p:ph type="ftr" sz="quarter" idx="11"/>
          </p:nvPr>
        </p:nvSpPr>
        <p:spPr/>
        <p:txBody>
          <a:bodyPr/>
          <a:lstStyle/>
          <a:p>
            <a:endParaRPr lang="en-KE"/>
          </a:p>
        </p:txBody>
      </p:sp>
      <p:sp>
        <p:nvSpPr>
          <p:cNvPr id="6" name="Slide Number Placeholder 5"/>
          <p:cNvSpPr>
            <a:spLocks noGrp="1"/>
          </p:cNvSpPr>
          <p:nvPr>
            <p:ph type="sldNum" sz="quarter" idx="12"/>
          </p:nvPr>
        </p:nvSpPr>
        <p:spPr/>
        <p:txBody>
          <a:bodyPr/>
          <a:lstStyle/>
          <a:p>
            <a:fld id="{30812D6D-2B9F-4DF2-89DA-7E02A265EF68}" type="slidenum">
              <a:rPr lang="en-KE" smtClean="0"/>
              <a:t>‹#›</a:t>
            </a:fld>
            <a:endParaRPr lang="en-KE"/>
          </a:p>
        </p:txBody>
      </p:sp>
    </p:spTree>
    <p:extLst>
      <p:ext uri="{BB962C8B-B14F-4D97-AF65-F5344CB8AC3E}">
        <p14:creationId xmlns:p14="http://schemas.microsoft.com/office/powerpoint/2010/main" val="41041659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051821F-2319-41AD-9FBD-073680D2195A}" type="datetimeFigureOut">
              <a:rPr lang="en-KE" smtClean="0"/>
              <a:t>10/10/2024</a:t>
            </a:fld>
            <a:endParaRPr lang="en-KE"/>
          </a:p>
        </p:txBody>
      </p:sp>
      <p:sp>
        <p:nvSpPr>
          <p:cNvPr id="5" name="Footer Placeholder 4"/>
          <p:cNvSpPr>
            <a:spLocks noGrp="1"/>
          </p:cNvSpPr>
          <p:nvPr>
            <p:ph type="ftr" sz="quarter" idx="11"/>
          </p:nvPr>
        </p:nvSpPr>
        <p:spPr/>
        <p:txBody>
          <a:bodyPr/>
          <a:lstStyle/>
          <a:p>
            <a:endParaRPr lang="en-KE"/>
          </a:p>
        </p:txBody>
      </p:sp>
      <p:sp>
        <p:nvSpPr>
          <p:cNvPr id="6" name="Slide Number Placeholder 5"/>
          <p:cNvSpPr>
            <a:spLocks noGrp="1"/>
          </p:cNvSpPr>
          <p:nvPr>
            <p:ph type="sldNum" sz="quarter" idx="12"/>
          </p:nvPr>
        </p:nvSpPr>
        <p:spPr/>
        <p:txBody>
          <a:bodyPr/>
          <a:lstStyle/>
          <a:p>
            <a:fld id="{30812D6D-2B9F-4DF2-89DA-7E02A265EF68}" type="slidenum">
              <a:rPr lang="en-KE" smtClean="0"/>
              <a:t>‹#›</a:t>
            </a:fld>
            <a:endParaRPr lang="en-KE"/>
          </a:p>
        </p:txBody>
      </p:sp>
    </p:spTree>
    <p:extLst>
      <p:ext uri="{BB962C8B-B14F-4D97-AF65-F5344CB8AC3E}">
        <p14:creationId xmlns:p14="http://schemas.microsoft.com/office/powerpoint/2010/main" val="1814089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051821F-2319-41AD-9FBD-073680D2195A}" type="datetimeFigureOut">
              <a:rPr lang="en-KE" smtClean="0"/>
              <a:t>10/10/2024</a:t>
            </a:fld>
            <a:endParaRPr lang="en-KE"/>
          </a:p>
        </p:txBody>
      </p:sp>
      <p:sp>
        <p:nvSpPr>
          <p:cNvPr id="5" name="Footer Placeholder 4"/>
          <p:cNvSpPr>
            <a:spLocks noGrp="1"/>
          </p:cNvSpPr>
          <p:nvPr>
            <p:ph type="ftr" sz="quarter" idx="11"/>
          </p:nvPr>
        </p:nvSpPr>
        <p:spPr/>
        <p:txBody>
          <a:bodyPr/>
          <a:lstStyle/>
          <a:p>
            <a:endParaRPr lang="en-KE"/>
          </a:p>
        </p:txBody>
      </p:sp>
      <p:sp>
        <p:nvSpPr>
          <p:cNvPr id="6" name="Slide Number Placeholder 5"/>
          <p:cNvSpPr>
            <a:spLocks noGrp="1"/>
          </p:cNvSpPr>
          <p:nvPr>
            <p:ph type="sldNum" sz="quarter" idx="12"/>
          </p:nvPr>
        </p:nvSpPr>
        <p:spPr/>
        <p:txBody>
          <a:bodyPr/>
          <a:lstStyle/>
          <a:p>
            <a:fld id="{30812D6D-2B9F-4DF2-89DA-7E02A265EF68}" type="slidenum">
              <a:rPr lang="en-KE" smtClean="0"/>
              <a:t>‹#›</a:t>
            </a:fld>
            <a:endParaRPr lang="en-KE"/>
          </a:p>
        </p:txBody>
      </p:sp>
    </p:spTree>
    <p:extLst>
      <p:ext uri="{BB962C8B-B14F-4D97-AF65-F5344CB8AC3E}">
        <p14:creationId xmlns:p14="http://schemas.microsoft.com/office/powerpoint/2010/main" val="22085836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051821F-2319-41AD-9FBD-073680D2195A}" type="datetimeFigureOut">
              <a:rPr lang="en-KE" smtClean="0"/>
              <a:t>10/10/2024</a:t>
            </a:fld>
            <a:endParaRPr lang="en-KE"/>
          </a:p>
        </p:txBody>
      </p:sp>
      <p:sp>
        <p:nvSpPr>
          <p:cNvPr id="6" name="Footer Placeholder 5"/>
          <p:cNvSpPr>
            <a:spLocks noGrp="1"/>
          </p:cNvSpPr>
          <p:nvPr>
            <p:ph type="ftr" sz="quarter" idx="11"/>
          </p:nvPr>
        </p:nvSpPr>
        <p:spPr/>
        <p:txBody>
          <a:bodyPr/>
          <a:lstStyle/>
          <a:p>
            <a:endParaRPr lang="en-KE"/>
          </a:p>
        </p:txBody>
      </p:sp>
      <p:sp>
        <p:nvSpPr>
          <p:cNvPr id="7" name="Slide Number Placeholder 6"/>
          <p:cNvSpPr>
            <a:spLocks noGrp="1"/>
          </p:cNvSpPr>
          <p:nvPr>
            <p:ph type="sldNum" sz="quarter" idx="12"/>
          </p:nvPr>
        </p:nvSpPr>
        <p:spPr/>
        <p:txBody>
          <a:bodyPr/>
          <a:lstStyle/>
          <a:p>
            <a:fld id="{30812D6D-2B9F-4DF2-89DA-7E02A265EF68}" type="slidenum">
              <a:rPr lang="en-KE" smtClean="0"/>
              <a:t>‹#›</a:t>
            </a:fld>
            <a:endParaRPr lang="en-KE"/>
          </a:p>
        </p:txBody>
      </p:sp>
    </p:spTree>
    <p:extLst>
      <p:ext uri="{BB962C8B-B14F-4D97-AF65-F5344CB8AC3E}">
        <p14:creationId xmlns:p14="http://schemas.microsoft.com/office/powerpoint/2010/main" val="4604137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051821F-2319-41AD-9FBD-073680D2195A}" type="datetimeFigureOut">
              <a:rPr lang="en-KE" smtClean="0"/>
              <a:t>10/10/2024</a:t>
            </a:fld>
            <a:endParaRPr lang="en-KE"/>
          </a:p>
        </p:txBody>
      </p:sp>
      <p:sp>
        <p:nvSpPr>
          <p:cNvPr id="8" name="Footer Placeholder 7"/>
          <p:cNvSpPr>
            <a:spLocks noGrp="1"/>
          </p:cNvSpPr>
          <p:nvPr>
            <p:ph type="ftr" sz="quarter" idx="11"/>
          </p:nvPr>
        </p:nvSpPr>
        <p:spPr/>
        <p:txBody>
          <a:bodyPr/>
          <a:lstStyle/>
          <a:p>
            <a:endParaRPr lang="en-KE"/>
          </a:p>
        </p:txBody>
      </p:sp>
      <p:sp>
        <p:nvSpPr>
          <p:cNvPr id="9" name="Slide Number Placeholder 8"/>
          <p:cNvSpPr>
            <a:spLocks noGrp="1"/>
          </p:cNvSpPr>
          <p:nvPr>
            <p:ph type="sldNum" sz="quarter" idx="12"/>
          </p:nvPr>
        </p:nvSpPr>
        <p:spPr/>
        <p:txBody>
          <a:bodyPr/>
          <a:lstStyle/>
          <a:p>
            <a:fld id="{30812D6D-2B9F-4DF2-89DA-7E02A265EF68}" type="slidenum">
              <a:rPr lang="en-KE" smtClean="0"/>
              <a:t>‹#›</a:t>
            </a:fld>
            <a:endParaRPr lang="en-KE"/>
          </a:p>
        </p:txBody>
      </p:sp>
    </p:spTree>
    <p:extLst>
      <p:ext uri="{BB962C8B-B14F-4D97-AF65-F5344CB8AC3E}">
        <p14:creationId xmlns:p14="http://schemas.microsoft.com/office/powerpoint/2010/main" val="25441194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051821F-2319-41AD-9FBD-073680D2195A}" type="datetimeFigureOut">
              <a:rPr lang="en-KE" smtClean="0"/>
              <a:t>10/10/2024</a:t>
            </a:fld>
            <a:endParaRPr lang="en-KE"/>
          </a:p>
        </p:txBody>
      </p:sp>
      <p:sp>
        <p:nvSpPr>
          <p:cNvPr id="4" name="Footer Placeholder 3"/>
          <p:cNvSpPr>
            <a:spLocks noGrp="1"/>
          </p:cNvSpPr>
          <p:nvPr>
            <p:ph type="ftr" sz="quarter" idx="11"/>
          </p:nvPr>
        </p:nvSpPr>
        <p:spPr/>
        <p:txBody>
          <a:bodyPr/>
          <a:lstStyle/>
          <a:p>
            <a:endParaRPr lang="en-KE"/>
          </a:p>
        </p:txBody>
      </p:sp>
      <p:sp>
        <p:nvSpPr>
          <p:cNvPr id="5" name="Slide Number Placeholder 4"/>
          <p:cNvSpPr>
            <a:spLocks noGrp="1"/>
          </p:cNvSpPr>
          <p:nvPr>
            <p:ph type="sldNum" sz="quarter" idx="12"/>
          </p:nvPr>
        </p:nvSpPr>
        <p:spPr/>
        <p:txBody>
          <a:bodyPr/>
          <a:lstStyle/>
          <a:p>
            <a:fld id="{30812D6D-2B9F-4DF2-89DA-7E02A265EF68}" type="slidenum">
              <a:rPr lang="en-KE" smtClean="0"/>
              <a:t>‹#›</a:t>
            </a:fld>
            <a:endParaRPr lang="en-KE"/>
          </a:p>
        </p:txBody>
      </p:sp>
    </p:spTree>
    <p:extLst>
      <p:ext uri="{BB962C8B-B14F-4D97-AF65-F5344CB8AC3E}">
        <p14:creationId xmlns:p14="http://schemas.microsoft.com/office/powerpoint/2010/main" val="31002760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051821F-2319-41AD-9FBD-073680D2195A}" type="datetimeFigureOut">
              <a:rPr lang="en-KE" smtClean="0"/>
              <a:t>10/10/2024</a:t>
            </a:fld>
            <a:endParaRPr lang="en-KE"/>
          </a:p>
        </p:txBody>
      </p:sp>
      <p:sp>
        <p:nvSpPr>
          <p:cNvPr id="3" name="Footer Placeholder 2"/>
          <p:cNvSpPr>
            <a:spLocks noGrp="1"/>
          </p:cNvSpPr>
          <p:nvPr>
            <p:ph type="ftr" sz="quarter" idx="11"/>
          </p:nvPr>
        </p:nvSpPr>
        <p:spPr/>
        <p:txBody>
          <a:bodyPr/>
          <a:lstStyle/>
          <a:p>
            <a:endParaRPr lang="en-KE"/>
          </a:p>
        </p:txBody>
      </p:sp>
      <p:sp>
        <p:nvSpPr>
          <p:cNvPr id="4" name="Slide Number Placeholder 3"/>
          <p:cNvSpPr>
            <a:spLocks noGrp="1"/>
          </p:cNvSpPr>
          <p:nvPr>
            <p:ph type="sldNum" sz="quarter" idx="12"/>
          </p:nvPr>
        </p:nvSpPr>
        <p:spPr/>
        <p:txBody>
          <a:bodyPr/>
          <a:lstStyle/>
          <a:p>
            <a:fld id="{30812D6D-2B9F-4DF2-89DA-7E02A265EF68}" type="slidenum">
              <a:rPr lang="en-KE" smtClean="0"/>
              <a:t>‹#›</a:t>
            </a:fld>
            <a:endParaRPr lang="en-KE"/>
          </a:p>
        </p:txBody>
      </p:sp>
    </p:spTree>
    <p:extLst>
      <p:ext uri="{BB962C8B-B14F-4D97-AF65-F5344CB8AC3E}">
        <p14:creationId xmlns:p14="http://schemas.microsoft.com/office/powerpoint/2010/main" val="24439255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051821F-2319-41AD-9FBD-073680D2195A}" type="datetimeFigureOut">
              <a:rPr lang="en-KE" smtClean="0"/>
              <a:t>10/10/2024</a:t>
            </a:fld>
            <a:endParaRPr lang="en-KE"/>
          </a:p>
        </p:txBody>
      </p:sp>
      <p:sp>
        <p:nvSpPr>
          <p:cNvPr id="6" name="Footer Placeholder 5"/>
          <p:cNvSpPr>
            <a:spLocks noGrp="1"/>
          </p:cNvSpPr>
          <p:nvPr>
            <p:ph type="ftr" sz="quarter" idx="11"/>
          </p:nvPr>
        </p:nvSpPr>
        <p:spPr/>
        <p:txBody>
          <a:bodyPr/>
          <a:lstStyle/>
          <a:p>
            <a:endParaRPr lang="en-KE"/>
          </a:p>
        </p:txBody>
      </p:sp>
      <p:sp>
        <p:nvSpPr>
          <p:cNvPr id="7" name="Slide Number Placeholder 6"/>
          <p:cNvSpPr>
            <a:spLocks noGrp="1"/>
          </p:cNvSpPr>
          <p:nvPr>
            <p:ph type="sldNum" sz="quarter" idx="12"/>
          </p:nvPr>
        </p:nvSpPr>
        <p:spPr/>
        <p:txBody>
          <a:bodyPr/>
          <a:lstStyle/>
          <a:p>
            <a:fld id="{30812D6D-2B9F-4DF2-89DA-7E02A265EF68}" type="slidenum">
              <a:rPr lang="en-KE" smtClean="0"/>
              <a:t>‹#›</a:t>
            </a:fld>
            <a:endParaRPr lang="en-KE"/>
          </a:p>
        </p:txBody>
      </p:sp>
    </p:spTree>
    <p:extLst>
      <p:ext uri="{BB962C8B-B14F-4D97-AF65-F5344CB8AC3E}">
        <p14:creationId xmlns:p14="http://schemas.microsoft.com/office/powerpoint/2010/main" val="36938762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051821F-2319-41AD-9FBD-073680D2195A}" type="datetimeFigureOut">
              <a:rPr lang="en-KE" smtClean="0"/>
              <a:t>10/10/2024</a:t>
            </a:fld>
            <a:endParaRPr lang="en-KE"/>
          </a:p>
        </p:txBody>
      </p:sp>
      <p:sp>
        <p:nvSpPr>
          <p:cNvPr id="6" name="Footer Placeholder 5"/>
          <p:cNvSpPr>
            <a:spLocks noGrp="1"/>
          </p:cNvSpPr>
          <p:nvPr>
            <p:ph type="ftr" sz="quarter" idx="11"/>
          </p:nvPr>
        </p:nvSpPr>
        <p:spPr/>
        <p:txBody>
          <a:bodyPr/>
          <a:lstStyle/>
          <a:p>
            <a:endParaRPr lang="en-KE"/>
          </a:p>
        </p:txBody>
      </p:sp>
      <p:sp>
        <p:nvSpPr>
          <p:cNvPr id="7" name="Slide Number Placeholder 6"/>
          <p:cNvSpPr>
            <a:spLocks noGrp="1"/>
          </p:cNvSpPr>
          <p:nvPr>
            <p:ph type="sldNum" sz="quarter" idx="12"/>
          </p:nvPr>
        </p:nvSpPr>
        <p:spPr/>
        <p:txBody>
          <a:bodyPr/>
          <a:lstStyle/>
          <a:p>
            <a:fld id="{30812D6D-2B9F-4DF2-89DA-7E02A265EF68}" type="slidenum">
              <a:rPr lang="en-KE" smtClean="0"/>
              <a:t>‹#›</a:t>
            </a:fld>
            <a:endParaRPr lang="en-KE"/>
          </a:p>
        </p:txBody>
      </p:sp>
    </p:spTree>
    <p:extLst>
      <p:ext uri="{BB962C8B-B14F-4D97-AF65-F5344CB8AC3E}">
        <p14:creationId xmlns:p14="http://schemas.microsoft.com/office/powerpoint/2010/main" val="7681315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051821F-2319-41AD-9FBD-073680D2195A}" type="datetimeFigureOut">
              <a:rPr lang="en-KE" smtClean="0"/>
              <a:t>10/10/2024</a:t>
            </a:fld>
            <a:endParaRPr lang="en-KE"/>
          </a:p>
        </p:txBody>
      </p:sp>
      <p:sp>
        <p:nvSpPr>
          <p:cNvPr id="5" name="Footer Placeholder 4"/>
          <p:cNvSpPr>
            <a:spLocks noGrp="1"/>
          </p:cNvSpPr>
          <p:nvPr>
            <p:ph type="ftr" sz="quarter" idx="11"/>
          </p:nvPr>
        </p:nvSpPr>
        <p:spPr/>
        <p:txBody>
          <a:bodyPr/>
          <a:lstStyle/>
          <a:p>
            <a:endParaRPr lang="en-KE"/>
          </a:p>
        </p:txBody>
      </p:sp>
      <p:sp>
        <p:nvSpPr>
          <p:cNvPr id="6" name="Slide Number Placeholder 5"/>
          <p:cNvSpPr>
            <a:spLocks noGrp="1"/>
          </p:cNvSpPr>
          <p:nvPr>
            <p:ph type="sldNum" sz="quarter" idx="12"/>
          </p:nvPr>
        </p:nvSpPr>
        <p:spPr/>
        <p:txBody>
          <a:bodyPr/>
          <a:lstStyle/>
          <a:p>
            <a:fld id="{30812D6D-2B9F-4DF2-89DA-7E02A265EF68}" type="slidenum">
              <a:rPr lang="en-KE" smtClean="0"/>
              <a:t>‹#›</a:t>
            </a:fld>
            <a:endParaRPr lang="en-KE"/>
          </a:p>
        </p:txBody>
      </p:sp>
    </p:spTree>
    <p:extLst>
      <p:ext uri="{BB962C8B-B14F-4D97-AF65-F5344CB8AC3E}">
        <p14:creationId xmlns:p14="http://schemas.microsoft.com/office/powerpoint/2010/main" val="2722414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051821F-2319-41AD-9FBD-073680D2195A}" type="datetimeFigureOut">
              <a:rPr lang="en-KE" smtClean="0"/>
              <a:t>10/10/2024</a:t>
            </a:fld>
            <a:endParaRPr lang="en-KE"/>
          </a:p>
        </p:txBody>
      </p:sp>
      <p:sp>
        <p:nvSpPr>
          <p:cNvPr id="5" name="Footer Placeholder 4"/>
          <p:cNvSpPr>
            <a:spLocks noGrp="1"/>
          </p:cNvSpPr>
          <p:nvPr>
            <p:ph type="ftr" sz="quarter" idx="11"/>
          </p:nvPr>
        </p:nvSpPr>
        <p:spPr/>
        <p:txBody>
          <a:bodyPr/>
          <a:lstStyle/>
          <a:p>
            <a:endParaRPr lang="en-KE"/>
          </a:p>
        </p:txBody>
      </p:sp>
      <p:sp>
        <p:nvSpPr>
          <p:cNvPr id="6" name="Slide Number Placeholder 5"/>
          <p:cNvSpPr>
            <a:spLocks noGrp="1"/>
          </p:cNvSpPr>
          <p:nvPr>
            <p:ph type="sldNum" sz="quarter" idx="12"/>
          </p:nvPr>
        </p:nvSpPr>
        <p:spPr/>
        <p:txBody>
          <a:bodyPr/>
          <a:lstStyle/>
          <a:p>
            <a:fld id="{30812D6D-2B9F-4DF2-89DA-7E02A265EF68}" type="slidenum">
              <a:rPr lang="en-KE" smtClean="0"/>
              <a:t>‹#›</a:t>
            </a:fld>
            <a:endParaRPr lang="en-KE"/>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5808909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051821F-2319-41AD-9FBD-073680D2195A}" type="datetimeFigureOut">
              <a:rPr lang="en-KE" smtClean="0"/>
              <a:t>10/10/2024</a:t>
            </a:fld>
            <a:endParaRPr lang="en-KE"/>
          </a:p>
        </p:txBody>
      </p:sp>
      <p:sp>
        <p:nvSpPr>
          <p:cNvPr id="5" name="Footer Placeholder 4"/>
          <p:cNvSpPr>
            <a:spLocks noGrp="1"/>
          </p:cNvSpPr>
          <p:nvPr>
            <p:ph type="ftr" sz="quarter" idx="11"/>
          </p:nvPr>
        </p:nvSpPr>
        <p:spPr/>
        <p:txBody>
          <a:bodyPr/>
          <a:lstStyle/>
          <a:p>
            <a:endParaRPr lang="en-KE"/>
          </a:p>
        </p:txBody>
      </p:sp>
      <p:sp>
        <p:nvSpPr>
          <p:cNvPr id="6" name="Slide Number Placeholder 5"/>
          <p:cNvSpPr>
            <a:spLocks noGrp="1"/>
          </p:cNvSpPr>
          <p:nvPr>
            <p:ph type="sldNum" sz="quarter" idx="12"/>
          </p:nvPr>
        </p:nvSpPr>
        <p:spPr/>
        <p:txBody>
          <a:bodyPr/>
          <a:lstStyle/>
          <a:p>
            <a:fld id="{30812D6D-2B9F-4DF2-89DA-7E02A265EF68}" type="slidenum">
              <a:rPr lang="en-KE" smtClean="0"/>
              <a:t>‹#›</a:t>
            </a:fld>
            <a:endParaRPr lang="en-KE"/>
          </a:p>
        </p:txBody>
      </p:sp>
    </p:spTree>
    <p:extLst>
      <p:ext uri="{BB962C8B-B14F-4D97-AF65-F5344CB8AC3E}">
        <p14:creationId xmlns:p14="http://schemas.microsoft.com/office/powerpoint/2010/main" val="15340579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051821F-2319-41AD-9FBD-073680D2195A}" type="datetimeFigureOut">
              <a:rPr lang="en-KE" smtClean="0"/>
              <a:t>10/10/2024</a:t>
            </a:fld>
            <a:endParaRPr lang="en-KE"/>
          </a:p>
        </p:txBody>
      </p:sp>
      <p:sp>
        <p:nvSpPr>
          <p:cNvPr id="5" name="Footer Placeholder 4"/>
          <p:cNvSpPr>
            <a:spLocks noGrp="1"/>
          </p:cNvSpPr>
          <p:nvPr>
            <p:ph type="ftr" sz="quarter" idx="11"/>
          </p:nvPr>
        </p:nvSpPr>
        <p:spPr/>
        <p:txBody>
          <a:bodyPr/>
          <a:lstStyle/>
          <a:p>
            <a:endParaRPr lang="en-KE"/>
          </a:p>
        </p:txBody>
      </p:sp>
      <p:sp>
        <p:nvSpPr>
          <p:cNvPr id="6" name="Slide Number Placeholder 5"/>
          <p:cNvSpPr>
            <a:spLocks noGrp="1"/>
          </p:cNvSpPr>
          <p:nvPr>
            <p:ph type="sldNum" sz="quarter" idx="12"/>
          </p:nvPr>
        </p:nvSpPr>
        <p:spPr/>
        <p:txBody>
          <a:bodyPr/>
          <a:lstStyle/>
          <a:p>
            <a:fld id="{30812D6D-2B9F-4DF2-89DA-7E02A265EF68}" type="slidenum">
              <a:rPr lang="en-KE" smtClean="0"/>
              <a:t>‹#›</a:t>
            </a:fld>
            <a:endParaRPr lang="en-KE"/>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59621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051821F-2319-41AD-9FBD-073680D2195A}" type="datetimeFigureOut">
              <a:rPr lang="en-KE" smtClean="0"/>
              <a:t>10/10/2024</a:t>
            </a:fld>
            <a:endParaRPr lang="en-KE"/>
          </a:p>
        </p:txBody>
      </p:sp>
      <p:sp>
        <p:nvSpPr>
          <p:cNvPr id="5" name="Footer Placeholder 4"/>
          <p:cNvSpPr>
            <a:spLocks noGrp="1"/>
          </p:cNvSpPr>
          <p:nvPr>
            <p:ph type="ftr" sz="quarter" idx="11"/>
          </p:nvPr>
        </p:nvSpPr>
        <p:spPr/>
        <p:txBody>
          <a:bodyPr/>
          <a:lstStyle/>
          <a:p>
            <a:endParaRPr lang="en-KE"/>
          </a:p>
        </p:txBody>
      </p:sp>
      <p:sp>
        <p:nvSpPr>
          <p:cNvPr id="6" name="Slide Number Placeholder 5"/>
          <p:cNvSpPr>
            <a:spLocks noGrp="1"/>
          </p:cNvSpPr>
          <p:nvPr>
            <p:ph type="sldNum" sz="quarter" idx="12"/>
          </p:nvPr>
        </p:nvSpPr>
        <p:spPr/>
        <p:txBody>
          <a:bodyPr/>
          <a:lstStyle/>
          <a:p>
            <a:fld id="{30812D6D-2B9F-4DF2-89DA-7E02A265EF68}" type="slidenum">
              <a:rPr lang="en-KE" smtClean="0"/>
              <a:t>‹#›</a:t>
            </a:fld>
            <a:endParaRPr lang="en-KE"/>
          </a:p>
        </p:txBody>
      </p:sp>
    </p:spTree>
    <p:extLst>
      <p:ext uri="{BB962C8B-B14F-4D97-AF65-F5344CB8AC3E}">
        <p14:creationId xmlns:p14="http://schemas.microsoft.com/office/powerpoint/2010/main" val="11764515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051821F-2319-41AD-9FBD-073680D2195A}" type="datetimeFigureOut">
              <a:rPr lang="en-KE" smtClean="0"/>
              <a:t>10/10/2024</a:t>
            </a:fld>
            <a:endParaRPr lang="en-KE"/>
          </a:p>
        </p:txBody>
      </p:sp>
      <p:sp>
        <p:nvSpPr>
          <p:cNvPr id="5" name="Footer Placeholder 4"/>
          <p:cNvSpPr>
            <a:spLocks noGrp="1"/>
          </p:cNvSpPr>
          <p:nvPr>
            <p:ph type="ftr" sz="quarter" idx="11"/>
          </p:nvPr>
        </p:nvSpPr>
        <p:spPr/>
        <p:txBody>
          <a:bodyPr/>
          <a:lstStyle/>
          <a:p>
            <a:endParaRPr lang="en-KE"/>
          </a:p>
        </p:txBody>
      </p:sp>
      <p:sp>
        <p:nvSpPr>
          <p:cNvPr id="6" name="Slide Number Placeholder 5"/>
          <p:cNvSpPr>
            <a:spLocks noGrp="1"/>
          </p:cNvSpPr>
          <p:nvPr>
            <p:ph type="sldNum" sz="quarter" idx="12"/>
          </p:nvPr>
        </p:nvSpPr>
        <p:spPr/>
        <p:txBody>
          <a:bodyPr/>
          <a:lstStyle/>
          <a:p>
            <a:fld id="{30812D6D-2B9F-4DF2-89DA-7E02A265EF68}" type="slidenum">
              <a:rPr lang="en-KE" smtClean="0"/>
              <a:t>‹#›</a:t>
            </a:fld>
            <a:endParaRPr lang="en-KE"/>
          </a:p>
        </p:txBody>
      </p:sp>
    </p:spTree>
    <p:extLst>
      <p:ext uri="{BB962C8B-B14F-4D97-AF65-F5344CB8AC3E}">
        <p14:creationId xmlns:p14="http://schemas.microsoft.com/office/powerpoint/2010/main" val="16602179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051821F-2319-41AD-9FBD-073680D2195A}" type="datetimeFigureOut">
              <a:rPr lang="en-KE" smtClean="0"/>
              <a:t>10/10/2024</a:t>
            </a:fld>
            <a:endParaRPr lang="en-KE"/>
          </a:p>
        </p:txBody>
      </p:sp>
      <p:sp>
        <p:nvSpPr>
          <p:cNvPr id="5" name="Footer Placeholder 4"/>
          <p:cNvSpPr>
            <a:spLocks noGrp="1"/>
          </p:cNvSpPr>
          <p:nvPr>
            <p:ph type="ftr" sz="quarter" idx="11"/>
          </p:nvPr>
        </p:nvSpPr>
        <p:spPr/>
        <p:txBody>
          <a:bodyPr/>
          <a:lstStyle/>
          <a:p>
            <a:endParaRPr lang="en-KE"/>
          </a:p>
        </p:txBody>
      </p:sp>
      <p:sp>
        <p:nvSpPr>
          <p:cNvPr id="6" name="Slide Number Placeholder 5"/>
          <p:cNvSpPr>
            <a:spLocks noGrp="1"/>
          </p:cNvSpPr>
          <p:nvPr>
            <p:ph type="sldNum" sz="quarter" idx="12"/>
          </p:nvPr>
        </p:nvSpPr>
        <p:spPr/>
        <p:txBody>
          <a:bodyPr/>
          <a:lstStyle/>
          <a:p>
            <a:fld id="{30812D6D-2B9F-4DF2-89DA-7E02A265EF68}" type="slidenum">
              <a:rPr lang="en-KE" smtClean="0"/>
              <a:t>‹#›</a:t>
            </a:fld>
            <a:endParaRPr lang="en-KE"/>
          </a:p>
        </p:txBody>
      </p:sp>
    </p:spTree>
    <p:extLst>
      <p:ext uri="{BB962C8B-B14F-4D97-AF65-F5344CB8AC3E}">
        <p14:creationId xmlns:p14="http://schemas.microsoft.com/office/powerpoint/2010/main" val="15569653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051821F-2319-41AD-9FBD-073680D2195A}" type="datetimeFigureOut">
              <a:rPr lang="en-KE" smtClean="0"/>
              <a:t>10/10/2024</a:t>
            </a:fld>
            <a:endParaRPr lang="en-KE"/>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KE"/>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30812D6D-2B9F-4DF2-89DA-7E02A265EF68}" type="slidenum">
              <a:rPr lang="en-KE" smtClean="0"/>
              <a:t>‹#›</a:t>
            </a:fld>
            <a:endParaRPr lang="en-KE"/>
          </a:p>
        </p:txBody>
      </p:sp>
    </p:spTree>
    <p:extLst>
      <p:ext uri="{BB962C8B-B14F-4D97-AF65-F5344CB8AC3E}">
        <p14:creationId xmlns:p14="http://schemas.microsoft.com/office/powerpoint/2010/main" val="2616859765"/>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 id="2147483714" r:id="rId13"/>
    <p:sldLayoutId id="2147483715" r:id="rId14"/>
    <p:sldLayoutId id="2147483716" r:id="rId15"/>
    <p:sldLayoutId id="2147483717"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CE1F9-5643-01CF-580A-E1D21CDB256E}"/>
              </a:ext>
            </a:extLst>
          </p:cNvPr>
          <p:cNvSpPr>
            <a:spLocks noGrp="1"/>
          </p:cNvSpPr>
          <p:nvPr>
            <p:ph type="ctrTitle"/>
          </p:nvPr>
        </p:nvSpPr>
        <p:spPr/>
        <p:txBody>
          <a:bodyPr>
            <a:normAutofit fontScale="90000"/>
          </a:bodyPr>
          <a:lstStyle/>
          <a:p>
            <a:r>
              <a:rPr lang="en-US" dirty="0"/>
              <a:t>Human Resources for Workforce production</a:t>
            </a:r>
            <a:endParaRPr lang="en-KE" dirty="0"/>
          </a:p>
        </p:txBody>
      </p:sp>
      <p:sp>
        <p:nvSpPr>
          <p:cNvPr id="3" name="Subtitle 2">
            <a:extLst>
              <a:ext uri="{FF2B5EF4-FFF2-40B4-BE49-F238E27FC236}">
                <a16:creationId xmlns:a16="http://schemas.microsoft.com/office/drawing/2014/main" id="{AD7B4F63-E123-BD3E-9DC9-81F6497A1DDE}"/>
              </a:ext>
            </a:extLst>
          </p:cNvPr>
          <p:cNvSpPr>
            <a:spLocks noGrp="1"/>
          </p:cNvSpPr>
          <p:nvPr>
            <p:ph type="subTitle" idx="1"/>
          </p:nvPr>
        </p:nvSpPr>
        <p:spPr/>
        <p:txBody>
          <a:bodyPr/>
          <a:lstStyle/>
          <a:p>
            <a:r>
              <a:rPr lang="en-US" dirty="0"/>
              <a:t>By </a:t>
            </a:r>
            <a:r>
              <a:rPr lang="en-US" dirty="0" err="1"/>
              <a:t>Maimuna</a:t>
            </a:r>
            <a:r>
              <a:rPr lang="en-US" dirty="0"/>
              <a:t> Juma</a:t>
            </a:r>
            <a:endParaRPr lang="en-KE" dirty="0"/>
          </a:p>
        </p:txBody>
      </p:sp>
    </p:spTree>
    <p:extLst>
      <p:ext uri="{BB962C8B-B14F-4D97-AF65-F5344CB8AC3E}">
        <p14:creationId xmlns:p14="http://schemas.microsoft.com/office/powerpoint/2010/main" val="35046031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2B5A2-B13D-4E3E-794F-E335510C7950}"/>
              </a:ext>
            </a:extLst>
          </p:cNvPr>
          <p:cNvSpPr>
            <a:spLocks noGrp="1"/>
          </p:cNvSpPr>
          <p:nvPr>
            <p:ph type="title"/>
          </p:nvPr>
        </p:nvSpPr>
        <p:spPr/>
        <p:txBody>
          <a:bodyPr/>
          <a:lstStyle/>
          <a:p>
            <a:r>
              <a:rPr lang="en-US" dirty="0"/>
              <a:t>Introduction</a:t>
            </a:r>
            <a:endParaRPr lang="en-KE" dirty="0"/>
          </a:p>
        </p:txBody>
      </p:sp>
      <p:sp>
        <p:nvSpPr>
          <p:cNvPr id="3" name="Content Placeholder 2">
            <a:extLst>
              <a:ext uri="{FF2B5EF4-FFF2-40B4-BE49-F238E27FC236}">
                <a16:creationId xmlns:a16="http://schemas.microsoft.com/office/drawing/2014/main" id="{BF52BDFF-923F-A584-DDD1-D63456635FF3}"/>
              </a:ext>
            </a:extLst>
          </p:cNvPr>
          <p:cNvSpPr>
            <a:spLocks noGrp="1"/>
          </p:cNvSpPr>
          <p:nvPr>
            <p:ph idx="1"/>
          </p:nvPr>
        </p:nvSpPr>
        <p:spPr/>
        <p:txBody>
          <a:bodyPr>
            <a:normAutofit fontScale="92500" lnSpcReduction="10000"/>
          </a:bodyPr>
          <a:lstStyle/>
          <a:p>
            <a:pPr algn="just">
              <a:lnSpc>
                <a:spcPct val="107000"/>
              </a:lnSpc>
              <a:spcAft>
                <a:spcPts val="800"/>
              </a:spcAft>
            </a:pPr>
            <a:r>
              <a:rPr lang="en-KE" sz="2400" b="1" kern="100" dirty="0">
                <a:effectLst/>
                <a:latin typeface="Verdana" panose="020B0604030504040204" pitchFamily="34" charset="0"/>
                <a:ea typeface="Aptos" panose="020B0004020202020204" pitchFamily="34" charset="0"/>
                <a:cs typeface="Times New Roman" panose="02020603050405020304" pitchFamily="18" charset="0"/>
              </a:rPr>
              <a:t>Workforce Production</a:t>
            </a:r>
            <a:endParaRPr lang="en-KE" sz="24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7000"/>
              </a:lnSpc>
              <a:spcAft>
                <a:spcPts val="800"/>
              </a:spcAft>
            </a:pPr>
            <a:r>
              <a:rPr lang="en-KE" sz="2400" kern="100" dirty="0">
                <a:effectLst/>
                <a:latin typeface="Verdana" panose="020B0604030504040204" pitchFamily="34" charset="0"/>
                <a:ea typeface="Aptos" panose="020B0004020202020204" pitchFamily="34" charset="0"/>
                <a:cs typeface="Times New Roman" panose="02020603050405020304" pitchFamily="18" charset="0"/>
              </a:rPr>
              <a:t>Human resources play a pivotal role in workforce production by optimizing employee performance and engagement. Effective HR strategies focus on recruitment, training, and development, ensuring that organizations harness the full potential of their workforce. By fostering a culture of continuous improvement and aligning individual goals with organizational objectives, HR enhances productivity and innovation</a:t>
            </a:r>
            <a:r>
              <a:rPr lang="en-KE" sz="1800" kern="100" dirty="0">
                <a:effectLst/>
                <a:latin typeface="Verdana" panose="020B0604030504040204" pitchFamily="34" charset="0"/>
                <a:ea typeface="Aptos" panose="020B0004020202020204" pitchFamily="34" charset="0"/>
                <a:cs typeface="Times New Roman" panose="02020603050405020304" pitchFamily="18" charset="0"/>
              </a:rPr>
              <a:t>.</a:t>
            </a:r>
            <a:endParaRPr lang="en-KE"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KE" dirty="0"/>
          </a:p>
        </p:txBody>
      </p:sp>
    </p:spTree>
    <p:extLst>
      <p:ext uri="{BB962C8B-B14F-4D97-AF65-F5344CB8AC3E}">
        <p14:creationId xmlns:p14="http://schemas.microsoft.com/office/powerpoint/2010/main" val="40545018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9BF64-222D-4887-44AF-463F9596C9CB}"/>
              </a:ext>
            </a:extLst>
          </p:cNvPr>
          <p:cNvSpPr>
            <a:spLocks noGrp="1"/>
          </p:cNvSpPr>
          <p:nvPr>
            <p:ph type="title"/>
          </p:nvPr>
        </p:nvSpPr>
        <p:spPr/>
        <p:txBody>
          <a:bodyPr>
            <a:normAutofit/>
          </a:bodyPr>
          <a:lstStyle/>
          <a:p>
            <a:r>
              <a:rPr lang="en-KE" sz="4400" b="1" kern="100" dirty="0">
                <a:effectLst/>
                <a:latin typeface="Verdana" panose="020B0604030504040204" pitchFamily="34" charset="0"/>
                <a:ea typeface="Aptos" panose="020B0004020202020204" pitchFamily="34" charset="0"/>
                <a:cs typeface="Times New Roman" panose="02020603050405020304" pitchFamily="18" charset="0"/>
              </a:rPr>
              <a:t>Labour Market Dynamics</a:t>
            </a:r>
            <a:br>
              <a:rPr lang="en-KE" sz="4400" kern="100" dirty="0">
                <a:effectLst/>
                <a:latin typeface="Aptos" panose="020B0004020202020204" pitchFamily="34" charset="0"/>
                <a:ea typeface="Aptos" panose="020B0004020202020204" pitchFamily="34" charset="0"/>
                <a:cs typeface="Times New Roman" panose="02020603050405020304" pitchFamily="18" charset="0"/>
              </a:rPr>
            </a:br>
            <a:endParaRPr lang="en-KE" dirty="0"/>
          </a:p>
        </p:txBody>
      </p:sp>
      <p:sp>
        <p:nvSpPr>
          <p:cNvPr id="3" name="Content Placeholder 2">
            <a:extLst>
              <a:ext uri="{FF2B5EF4-FFF2-40B4-BE49-F238E27FC236}">
                <a16:creationId xmlns:a16="http://schemas.microsoft.com/office/drawing/2014/main" id="{D43127A5-8C6C-A1B3-9575-DF2A6EC2D6E7}"/>
              </a:ext>
            </a:extLst>
          </p:cNvPr>
          <p:cNvSpPr>
            <a:spLocks noGrp="1"/>
          </p:cNvSpPr>
          <p:nvPr>
            <p:ph idx="1"/>
          </p:nvPr>
        </p:nvSpPr>
        <p:spPr/>
        <p:txBody>
          <a:bodyPr/>
          <a:lstStyle/>
          <a:p>
            <a:pPr algn="just">
              <a:lnSpc>
                <a:spcPct val="107000"/>
              </a:lnSpc>
              <a:spcAft>
                <a:spcPts val="800"/>
              </a:spcAft>
            </a:pPr>
            <a:r>
              <a:rPr lang="en-KE" sz="2400" kern="100" dirty="0">
                <a:effectLst/>
                <a:latin typeface="Verdana" panose="020B0604030504040204" pitchFamily="34" charset="0"/>
                <a:ea typeface="Aptos" panose="020B0004020202020204" pitchFamily="34" charset="0"/>
                <a:cs typeface="Times New Roman" panose="02020603050405020304" pitchFamily="18" charset="0"/>
              </a:rPr>
              <a:t>HR practices are essential in navigating the complexities of labour market dynamics. Understanding trends such as skill shortages, demographic shifts, and employment patterns allows HR professionals to adapt recruitment and retention strategies. Proactive engagement with the labour market helps organizations remain competitive and responsive to changing workforce needs.</a:t>
            </a:r>
            <a:endParaRPr lang="en-KE" sz="24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a:p>
            <a:endParaRPr lang="en-KE" dirty="0"/>
          </a:p>
        </p:txBody>
      </p:sp>
    </p:spTree>
    <p:extLst>
      <p:ext uri="{BB962C8B-B14F-4D97-AF65-F5344CB8AC3E}">
        <p14:creationId xmlns:p14="http://schemas.microsoft.com/office/powerpoint/2010/main" val="32828325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499EA-6199-67F7-2202-59F80D2089EA}"/>
              </a:ext>
            </a:extLst>
          </p:cNvPr>
          <p:cNvSpPr>
            <a:spLocks noGrp="1"/>
          </p:cNvSpPr>
          <p:nvPr>
            <p:ph type="title"/>
          </p:nvPr>
        </p:nvSpPr>
        <p:spPr/>
        <p:txBody>
          <a:bodyPr>
            <a:normAutofit/>
          </a:bodyPr>
          <a:lstStyle/>
          <a:p>
            <a:r>
              <a:rPr lang="en-KE" sz="4400" b="1" kern="100" dirty="0">
                <a:effectLst/>
                <a:latin typeface="Verdana" panose="020B0604030504040204" pitchFamily="34" charset="0"/>
                <a:ea typeface="Aptos" panose="020B0004020202020204" pitchFamily="34" charset="0"/>
                <a:cs typeface="Times New Roman" panose="02020603050405020304" pitchFamily="18" charset="0"/>
              </a:rPr>
              <a:t>Governance</a:t>
            </a:r>
            <a:br>
              <a:rPr lang="en-KE" sz="4400" kern="100" dirty="0">
                <a:effectLst/>
                <a:latin typeface="Aptos" panose="020B0004020202020204" pitchFamily="34" charset="0"/>
                <a:ea typeface="Aptos" panose="020B0004020202020204" pitchFamily="34" charset="0"/>
                <a:cs typeface="Times New Roman" panose="02020603050405020304" pitchFamily="18" charset="0"/>
              </a:rPr>
            </a:br>
            <a:endParaRPr lang="en-KE" dirty="0"/>
          </a:p>
        </p:txBody>
      </p:sp>
      <p:sp>
        <p:nvSpPr>
          <p:cNvPr id="3" name="Content Placeholder 2">
            <a:extLst>
              <a:ext uri="{FF2B5EF4-FFF2-40B4-BE49-F238E27FC236}">
                <a16:creationId xmlns:a16="http://schemas.microsoft.com/office/drawing/2014/main" id="{5D152F12-D7AF-482F-925C-0C46263820B2}"/>
              </a:ext>
            </a:extLst>
          </p:cNvPr>
          <p:cNvSpPr>
            <a:spLocks noGrp="1"/>
          </p:cNvSpPr>
          <p:nvPr>
            <p:ph idx="1"/>
          </p:nvPr>
        </p:nvSpPr>
        <p:spPr/>
        <p:txBody>
          <a:bodyPr/>
          <a:lstStyle/>
          <a:p>
            <a:pPr algn="just">
              <a:lnSpc>
                <a:spcPct val="107000"/>
              </a:lnSpc>
              <a:spcAft>
                <a:spcPts val="800"/>
              </a:spcAft>
            </a:pPr>
            <a:r>
              <a:rPr lang="en-KE" sz="2400" kern="100" dirty="0">
                <a:effectLst/>
                <a:latin typeface="Verdana" panose="020B0604030504040204" pitchFamily="34" charset="0"/>
                <a:ea typeface="Aptos" panose="020B0004020202020204" pitchFamily="34" charset="0"/>
                <a:cs typeface="Times New Roman" panose="02020603050405020304" pitchFamily="18" charset="0"/>
              </a:rPr>
              <a:t>Strong governance in HR ensures ethical practices and compliance with regulations. HR departments must establish transparent policies and frameworks that promote fairness and accountability. Effective governance not only safeguards the organization against legal risks but also builds trust and fosters a positive workplace culture</a:t>
            </a:r>
            <a:r>
              <a:rPr lang="en-KE" sz="1800" kern="100" dirty="0">
                <a:effectLst/>
                <a:latin typeface="Verdana" panose="020B0604030504040204" pitchFamily="34" charset="0"/>
                <a:ea typeface="Aptos" panose="020B0004020202020204" pitchFamily="34" charset="0"/>
                <a:cs typeface="Times New Roman" panose="02020603050405020304" pitchFamily="18" charset="0"/>
              </a:rPr>
              <a:t>.</a:t>
            </a:r>
            <a:endParaRPr lang="en-KE"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KE" dirty="0"/>
          </a:p>
        </p:txBody>
      </p:sp>
    </p:spTree>
    <p:extLst>
      <p:ext uri="{BB962C8B-B14F-4D97-AF65-F5344CB8AC3E}">
        <p14:creationId xmlns:p14="http://schemas.microsoft.com/office/powerpoint/2010/main" val="25920803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F9993-26FB-A2A5-3327-93D75D94F082}"/>
              </a:ext>
            </a:extLst>
          </p:cNvPr>
          <p:cNvSpPr>
            <a:spLocks noGrp="1"/>
          </p:cNvSpPr>
          <p:nvPr>
            <p:ph type="title"/>
          </p:nvPr>
        </p:nvSpPr>
        <p:spPr>
          <a:xfrm>
            <a:off x="838200" y="365126"/>
            <a:ext cx="10515600" cy="453582"/>
          </a:xfrm>
        </p:spPr>
        <p:txBody>
          <a:bodyPr>
            <a:normAutofit fontScale="90000"/>
          </a:bodyPr>
          <a:lstStyle/>
          <a:p>
            <a:r>
              <a:rPr lang="en-KE" sz="4400" b="1" kern="100" dirty="0">
                <a:effectLst/>
                <a:latin typeface="Verdana" panose="020B0604030504040204" pitchFamily="34" charset="0"/>
                <a:ea typeface="Aptos" panose="020B0004020202020204" pitchFamily="34" charset="0"/>
                <a:cs typeface="Times New Roman" panose="02020603050405020304" pitchFamily="18" charset="0"/>
              </a:rPr>
              <a:t>Policy &amp; Legislative Framework</a:t>
            </a:r>
            <a:br>
              <a:rPr lang="en-KE" sz="4400" kern="100" dirty="0">
                <a:effectLst/>
                <a:latin typeface="Aptos" panose="020B0004020202020204" pitchFamily="34" charset="0"/>
                <a:ea typeface="Aptos" panose="020B0004020202020204" pitchFamily="34" charset="0"/>
                <a:cs typeface="Times New Roman" panose="02020603050405020304" pitchFamily="18" charset="0"/>
              </a:rPr>
            </a:br>
            <a:endParaRPr lang="en-KE" dirty="0"/>
          </a:p>
        </p:txBody>
      </p:sp>
      <p:sp>
        <p:nvSpPr>
          <p:cNvPr id="3" name="Content Placeholder 2">
            <a:extLst>
              <a:ext uri="{FF2B5EF4-FFF2-40B4-BE49-F238E27FC236}">
                <a16:creationId xmlns:a16="http://schemas.microsoft.com/office/drawing/2014/main" id="{39FCBD96-F255-452B-A01A-93AEA097C342}"/>
              </a:ext>
            </a:extLst>
          </p:cNvPr>
          <p:cNvSpPr>
            <a:spLocks noGrp="1"/>
          </p:cNvSpPr>
          <p:nvPr>
            <p:ph idx="1"/>
          </p:nvPr>
        </p:nvSpPr>
        <p:spPr>
          <a:xfrm>
            <a:off x="838200" y="818708"/>
            <a:ext cx="10515600" cy="5358255"/>
          </a:xfrm>
        </p:spPr>
        <p:txBody>
          <a:bodyPr>
            <a:normAutofit fontScale="92500"/>
          </a:bodyPr>
          <a:lstStyle/>
          <a:p>
            <a:r>
              <a:rPr lang="en-KE" sz="2400" dirty="0">
                <a:effectLst/>
                <a:latin typeface="Verdana" panose="020B0604030504040204" pitchFamily="34" charset="0"/>
                <a:ea typeface="Aptos" panose="020B0004020202020204" pitchFamily="34" charset="0"/>
                <a:cs typeface="Times New Roman" panose="02020603050405020304" pitchFamily="18" charset="0"/>
              </a:rPr>
              <a:t>HR functions are deeply intertwined with policy and legislative frameworks that govern employment. Staying informed about </a:t>
            </a:r>
            <a:r>
              <a:rPr lang="en-KE" sz="2400" dirty="0" err="1">
                <a:effectLst/>
                <a:latin typeface="Verdana" panose="020B0604030504040204" pitchFamily="34" charset="0"/>
                <a:ea typeface="Aptos" panose="020B0004020202020204" pitchFamily="34" charset="0"/>
                <a:cs typeface="Times New Roman" panose="02020603050405020304" pitchFamily="18" charset="0"/>
              </a:rPr>
              <a:t>labor</a:t>
            </a:r>
            <a:r>
              <a:rPr lang="en-KE" sz="2400" dirty="0">
                <a:effectLst/>
                <a:latin typeface="Verdana" panose="020B0604030504040204" pitchFamily="34" charset="0"/>
                <a:ea typeface="Aptos" panose="020B0004020202020204" pitchFamily="34" charset="0"/>
                <a:cs typeface="Times New Roman" panose="02020603050405020304" pitchFamily="18" charset="0"/>
              </a:rPr>
              <a:t> laws and regulations enables HR to implement compliant practices, advocate for employee rights, and contribute to policy development. A robust HR policy framework helps mitigate risks and supports organizational goals</a:t>
            </a:r>
            <a:endParaRPr lang="en-US" sz="2400" dirty="0">
              <a:effectLst/>
              <a:latin typeface="Verdana" panose="020B0604030504040204" pitchFamily="34" charset="0"/>
              <a:ea typeface="Aptos" panose="020B0004020202020204" pitchFamily="34" charset="0"/>
              <a:cs typeface="Times New Roman" panose="02020603050405020304" pitchFamily="18" charset="0"/>
            </a:endParaRPr>
          </a:p>
          <a:p>
            <a:pPr algn="just">
              <a:lnSpc>
                <a:spcPct val="107000"/>
              </a:lnSpc>
              <a:spcAft>
                <a:spcPts val="800"/>
              </a:spcAft>
            </a:pPr>
            <a:r>
              <a:rPr lang="en-KE" sz="2400" b="1" kern="100" dirty="0">
                <a:effectLst/>
                <a:latin typeface="Verdana" panose="020B0604030504040204" pitchFamily="34" charset="0"/>
                <a:ea typeface="Aptos" panose="020B0004020202020204" pitchFamily="34" charset="0"/>
                <a:cs typeface="Times New Roman" panose="02020603050405020304" pitchFamily="18" charset="0"/>
              </a:rPr>
              <a:t>Data Generation, Usage, and Management</a:t>
            </a:r>
            <a:endParaRPr lang="en-KE" sz="2400" kern="100" dirty="0">
              <a:effectLst/>
              <a:latin typeface="Aptos" panose="020B0004020202020204" pitchFamily="34" charset="0"/>
              <a:ea typeface="Aptos" panose="020B0004020202020204" pitchFamily="34" charset="0"/>
              <a:cs typeface="Times New Roman" panose="02020603050405020304" pitchFamily="18" charset="0"/>
            </a:endParaRPr>
          </a:p>
          <a:p>
            <a:r>
              <a:rPr lang="en-KE" sz="2400" dirty="0">
                <a:effectLst/>
                <a:latin typeface="Verdana" panose="020B0604030504040204" pitchFamily="34" charset="0"/>
                <a:ea typeface="Aptos" panose="020B0004020202020204" pitchFamily="34" charset="0"/>
                <a:cs typeface="Times New Roman" panose="02020603050405020304" pitchFamily="18" charset="0"/>
              </a:rPr>
              <a:t>Data-driven decision-making is increasingly vital in HR. By generating and analysing workforce data, HR can identify trends, measure performance, and inform strategic planning. Effective data management ensures that sensitive information is protected while maximizing its utility for talent management, workforce planning, and employee engagement initiatives. Leveraging data enhances HR's ability to drive organizational success</a:t>
            </a:r>
            <a:endParaRPr lang="en-KE" sz="2400" dirty="0"/>
          </a:p>
        </p:txBody>
      </p:sp>
    </p:spTree>
    <p:extLst>
      <p:ext uri="{BB962C8B-B14F-4D97-AF65-F5344CB8AC3E}">
        <p14:creationId xmlns:p14="http://schemas.microsoft.com/office/powerpoint/2010/main" val="5125097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DE8ADF-557D-603D-92C3-12B619C38220}"/>
              </a:ext>
            </a:extLst>
          </p:cNvPr>
          <p:cNvSpPr>
            <a:spLocks noGrp="1"/>
          </p:cNvSpPr>
          <p:nvPr>
            <p:ph idx="1"/>
          </p:nvPr>
        </p:nvSpPr>
        <p:spPr>
          <a:xfrm>
            <a:off x="838200" y="148856"/>
            <a:ext cx="10515600" cy="6166884"/>
          </a:xfrm>
        </p:spPr>
        <p:txBody>
          <a:bodyPr>
            <a:normAutofit/>
          </a:bodyPr>
          <a:lstStyle/>
          <a:p>
            <a:pPr algn="just">
              <a:lnSpc>
                <a:spcPct val="107000"/>
              </a:lnSpc>
              <a:spcAft>
                <a:spcPts val="800"/>
              </a:spcAft>
            </a:pPr>
            <a:r>
              <a:rPr lang="en-KE" b="1" kern="100" dirty="0">
                <a:effectLst/>
                <a:latin typeface="Verdana" panose="020B0604030504040204" pitchFamily="34" charset="0"/>
                <a:ea typeface="Aptos" panose="020B0004020202020204" pitchFamily="34" charset="0"/>
                <a:cs typeface="Times New Roman" panose="02020603050405020304" pitchFamily="18" charset="0"/>
              </a:rPr>
              <a:t>Part two:</a:t>
            </a:r>
            <a:endParaRPr lang="en-KE"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7000"/>
              </a:lnSpc>
              <a:spcAft>
                <a:spcPts val="800"/>
              </a:spcAft>
            </a:pPr>
            <a:r>
              <a:rPr lang="en-KE" b="1" kern="100" dirty="0">
                <a:effectLst/>
                <a:latin typeface="Verdana" panose="020B0604030504040204" pitchFamily="34" charset="0"/>
                <a:ea typeface="Aptos" panose="020B0004020202020204" pitchFamily="34" charset="0"/>
                <a:cs typeface="Times New Roman" panose="02020603050405020304" pitchFamily="18" charset="0"/>
              </a:rPr>
              <a:t>Workforce Production in Human Resources for Health</a:t>
            </a:r>
            <a:endParaRPr lang="en-KE"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7000"/>
              </a:lnSpc>
              <a:spcAft>
                <a:spcPts val="800"/>
              </a:spcAft>
            </a:pPr>
            <a:r>
              <a:rPr lang="en-KE" b="1" kern="100" dirty="0">
                <a:effectLst/>
                <a:latin typeface="Verdana" panose="020B0604030504040204" pitchFamily="34" charset="0"/>
                <a:ea typeface="Aptos" panose="020B0004020202020204" pitchFamily="34" charset="0"/>
                <a:cs typeface="Times New Roman" panose="02020603050405020304" pitchFamily="18" charset="0"/>
              </a:rPr>
              <a:t>Introduction</a:t>
            </a:r>
            <a:endParaRPr lang="en-KE"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7000"/>
              </a:lnSpc>
              <a:spcAft>
                <a:spcPts val="800"/>
              </a:spcAft>
            </a:pPr>
            <a:r>
              <a:rPr lang="en-KE" kern="100" dirty="0">
                <a:effectLst/>
                <a:latin typeface="Verdana" panose="020B0604030504040204" pitchFamily="34" charset="0"/>
                <a:ea typeface="Aptos" panose="020B0004020202020204" pitchFamily="34" charset="0"/>
                <a:cs typeface="Times New Roman" panose="02020603050405020304" pitchFamily="18" charset="0"/>
              </a:rPr>
              <a:t>Workforce production in the health sector is a critical component of health systems strengthening and overall population health. It encompasses the planning, recruitment, training, and retention of health personnel to ensure a sufficient, skilled, and motivated workforce. This write-up explores key aspects of workforce production, its challenges, and strategies for improvement.</a:t>
            </a:r>
            <a:endParaRPr lang="en-KE"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KE" dirty="0"/>
          </a:p>
        </p:txBody>
      </p:sp>
    </p:spTree>
    <p:extLst>
      <p:ext uri="{BB962C8B-B14F-4D97-AF65-F5344CB8AC3E}">
        <p14:creationId xmlns:p14="http://schemas.microsoft.com/office/powerpoint/2010/main" val="6043194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A9D3F-0FAE-F41D-F9B6-0CD2D001375E}"/>
              </a:ext>
            </a:extLst>
          </p:cNvPr>
          <p:cNvSpPr>
            <a:spLocks noGrp="1"/>
          </p:cNvSpPr>
          <p:nvPr>
            <p:ph type="title"/>
          </p:nvPr>
        </p:nvSpPr>
        <p:spPr/>
        <p:txBody>
          <a:bodyPr>
            <a:normAutofit fontScale="90000"/>
          </a:bodyPr>
          <a:lstStyle/>
          <a:p>
            <a:r>
              <a:rPr lang="en-KE" b="1" kern="100" dirty="0">
                <a:effectLst/>
                <a:latin typeface="Verdana" panose="020B0604030504040204" pitchFamily="34" charset="0"/>
                <a:ea typeface="Aptos" panose="020B0004020202020204" pitchFamily="34" charset="0"/>
                <a:cs typeface="Times New Roman" panose="02020603050405020304" pitchFamily="18" charset="0"/>
              </a:rPr>
              <a:t>Importance of Workforce Production</a:t>
            </a:r>
            <a:br>
              <a:rPr lang="en-KE" kern="100" dirty="0">
                <a:effectLst/>
                <a:latin typeface="Aptos" panose="020B0004020202020204" pitchFamily="34" charset="0"/>
                <a:ea typeface="Aptos" panose="020B0004020202020204" pitchFamily="34" charset="0"/>
                <a:cs typeface="Times New Roman" panose="02020603050405020304" pitchFamily="18" charset="0"/>
              </a:rPr>
            </a:br>
            <a:endParaRPr lang="en-KE" dirty="0"/>
          </a:p>
        </p:txBody>
      </p:sp>
      <p:sp>
        <p:nvSpPr>
          <p:cNvPr id="3" name="Content Placeholder 2">
            <a:extLst>
              <a:ext uri="{FF2B5EF4-FFF2-40B4-BE49-F238E27FC236}">
                <a16:creationId xmlns:a16="http://schemas.microsoft.com/office/drawing/2014/main" id="{37DDEBB5-04DA-F2F5-DBA6-B6DAE3771C19}"/>
              </a:ext>
            </a:extLst>
          </p:cNvPr>
          <p:cNvSpPr>
            <a:spLocks noGrp="1"/>
          </p:cNvSpPr>
          <p:nvPr>
            <p:ph idx="1"/>
          </p:nvPr>
        </p:nvSpPr>
        <p:spPr/>
        <p:txBody>
          <a:bodyPr/>
          <a:lstStyle/>
          <a:p>
            <a:pPr algn="just">
              <a:lnSpc>
                <a:spcPct val="107000"/>
              </a:lnSpc>
              <a:spcAft>
                <a:spcPts val="800"/>
              </a:spcAft>
            </a:pPr>
            <a:r>
              <a:rPr lang="en-KE" kern="100" dirty="0">
                <a:effectLst/>
                <a:latin typeface="Verdana" panose="020B0604030504040204" pitchFamily="34" charset="0"/>
                <a:ea typeface="Aptos" panose="020B0004020202020204" pitchFamily="34" charset="0"/>
                <a:cs typeface="Times New Roman" panose="02020603050405020304" pitchFamily="18" charset="0"/>
              </a:rPr>
              <a:t>A well-functioning health workforce is essential for delivering quality healthcare services. It impacts patient outcomes, healthcare access, and the efficiency of health systems. Effective workforce production ensures that there are enough healthcare professionals in the right places, equipped with the necessary skills to meet the community's health needs.</a:t>
            </a:r>
            <a:endParaRPr lang="en-KE"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KE" dirty="0"/>
          </a:p>
        </p:txBody>
      </p:sp>
    </p:spTree>
    <p:extLst>
      <p:ext uri="{BB962C8B-B14F-4D97-AF65-F5344CB8AC3E}">
        <p14:creationId xmlns:p14="http://schemas.microsoft.com/office/powerpoint/2010/main" val="14879808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E9FF73-CA6C-2E3D-374D-ACACA1E75E92}"/>
              </a:ext>
            </a:extLst>
          </p:cNvPr>
          <p:cNvSpPr>
            <a:spLocks noGrp="1"/>
          </p:cNvSpPr>
          <p:nvPr>
            <p:ph idx="1"/>
          </p:nvPr>
        </p:nvSpPr>
        <p:spPr>
          <a:xfrm>
            <a:off x="838200" y="233916"/>
            <a:ext cx="10515600" cy="5943047"/>
          </a:xfrm>
        </p:spPr>
        <p:txBody>
          <a:bodyPr>
            <a:normAutofit/>
          </a:bodyPr>
          <a:lstStyle/>
          <a:p>
            <a:pPr algn="just">
              <a:lnSpc>
                <a:spcPct val="107000"/>
              </a:lnSpc>
              <a:spcAft>
                <a:spcPts val="800"/>
              </a:spcAft>
            </a:pPr>
            <a:r>
              <a:rPr lang="en-KE" sz="2400" b="1" kern="100" dirty="0">
                <a:effectLst/>
                <a:latin typeface="Verdana" panose="020B0604030504040204" pitchFamily="34" charset="0"/>
                <a:ea typeface="Aptos" panose="020B0004020202020204" pitchFamily="34" charset="0"/>
                <a:cs typeface="Times New Roman" panose="02020603050405020304" pitchFamily="18" charset="0"/>
              </a:rPr>
              <a:t>Key Components</a:t>
            </a:r>
            <a:endParaRPr lang="en-KE" sz="24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just">
              <a:lnSpc>
                <a:spcPct val="107000"/>
              </a:lnSpc>
              <a:spcAft>
                <a:spcPts val="800"/>
              </a:spcAft>
              <a:buFont typeface="+mj-lt"/>
              <a:buAutoNum type="arabicPeriod"/>
              <a:tabLst>
                <a:tab pos="457200" algn="l"/>
              </a:tabLst>
            </a:pPr>
            <a:r>
              <a:rPr lang="en-KE" sz="2400" b="1" kern="100" dirty="0">
                <a:effectLst/>
                <a:latin typeface="Verdana" panose="020B0604030504040204" pitchFamily="34" charset="0"/>
                <a:ea typeface="Aptos" panose="020B0004020202020204" pitchFamily="34" charset="0"/>
                <a:cs typeface="Times New Roman" panose="02020603050405020304" pitchFamily="18" charset="0"/>
              </a:rPr>
              <a:t>Workforce Planning</a:t>
            </a:r>
            <a:endParaRPr lang="en-KE" sz="24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gn="just">
              <a:lnSpc>
                <a:spcPct val="107000"/>
              </a:lnSpc>
              <a:spcAft>
                <a:spcPts val="800"/>
              </a:spcAft>
              <a:buSzPts val="1000"/>
              <a:buFont typeface="Courier New" panose="02070309020205020404" pitchFamily="49" charset="0"/>
              <a:buChar char="o"/>
              <a:tabLst>
                <a:tab pos="914400" algn="l"/>
              </a:tabLst>
            </a:pPr>
            <a:r>
              <a:rPr lang="en-KE" b="1" kern="100" dirty="0">
                <a:effectLst/>
                <a:latin typeface="Verdana" panose="020B0604030504040204" pitchFamily="34" charset="0"/>
                <a:ea typeface="Aptos" panose="020B0004020202020204" pitchFamily="34" charset="0"/>
                <a:cs typeface="Times New Roman" panose="02020603050405020304" pitchFamily="18" charset="0"/>
              </a:rPr>
              <a:t>Assessment of Needs</a:t>
            </a:r>
            <a:r>
              <a:rPr lang="en-KE" kern="100" dirty="0">
                <a:effectLst/>
                <a:latin typeface="Verdana" panose="020B0604030504040204" pitchFamily="34" charset="0"/>
                <a:ea typeface="Aptos" panose="020B0004020202020204" pitchFamily="34" charset="0"/>
                <a:cs typeface="Times New Roman" panose="02020603050405020304" pitchFamily="18" charset="0"/>
              </a:rPr>
              <a:t>: Understanding the health needs of the population is crucial. This involves </a:t>
            </a:r>
            <a:r>
              <a:rPr lang="en-KE" kern="100" dirty="0" err="1">
                <a:effectLst/>
                <a:latin typeface="Verdana" panose="020B0604030504040204" pitchFamily="34" charset="0"/>
                <a:ea typeface="Aptos" panose="020B0004020202020204" pitchFamily="34" charset="0"/>
                <a:cs typeface="Times New Roman" panose="02020603050405020304" pitchFamily="18" charset="0"/>
              </a:rPr>
              <a:t>analyzing</a:t>
            </a:r>
            <a:r>
              <a:rPr lang="en-KE" kern="100" dirty="0">
                <a:effectLst/>
                <a:latin typeface="Verdana" panose="020B0604030504040204" pitchFamily="34" charset="0"/>
                <a:ea typeface="Aptos" panose="020B0004020202020204" pitchFamily="34" charset="0"/>
                <a:cs typeface="Times New Roman" panose="02020603050405020304" pitchFamily="18" charset="0"/>
              </a:rPr>
              <a:t> disease prevalence, demographic trends, and existing workforce capabilities.</a:t>
            </a:r>
            <a:endParaRPr lang="en-KE" kern="100" dirty="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gn="just">
              <a:lnSpc>
                <a:spcPct val="107000"/>
              </a:lnSpc>
              <a:spcAft>
                <a:spcPts val="800"/>
              </a:spcAft>
              <a:buSzPts val="1000"/>
              <a:buFont typeface="Courier New" panose="02070309020205020404" pitchFamily="49" charset="0"/>
              <a:buChar char="o"/>
              <a:tabLst>
                <a:tab pos="914400" algn="l"/>
              </a:tabLst>
            </a:pPr>
            <a:r>
              <a:rPr lang="en-KE" b="1" kern="100" dirty="0">
                <a:effectLst/>
                <a:latin typeface="Verdana" panose="020B0604030504040204" pitchFamily="34" charset="0"/>
                <a:ea typeface="Aptos" panose="020B0004020202020204" pitchFamily="34" charset="0"/>
                <a:cs typeface="Times New Roman" panose="02020603050405020304" pitchFamily="18" charset="0"/>
              </a:rPr>
              <a:t>Forecasting Supply and Demand</a:t>
            </a:r>
            <a:r>
              <a:rPr lang="en-KE" kern="100" dirty="0">
                <a:effectLst/>
                <a:latin typeface="Verdana" panose="020B0604030504040204" pitchFamily="34" charset="0"/>
                <a:ea typeface="Aptos" panose="020B0004020202020204" pitchFamily="34" charset="0"/>
                <a:cs typeface="Times New Roman" panose="02020603050405020304" pitchFamily="18" charset="0"/>
              </a:rPr>
              <a:t>: Predicting future workforce needs based on trends in healthcare delivery, policy changes, and population growth.</a:t>
            </a:r>
            <a:endParaRPr lang="en-KE"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just">
              <a:lnSpc>
                <a:spcPct val="107000"/>
              </a:lnSpc>
              <a:spcAft>
                <a:spcPts val="800"/>
              </a:spcAft>
              <a:buFont typeface="+mj-lt"/>
              <a:buAutoNum type="arabicPeriod"/>
              <a:tabLst>
                <a:tab pos="457200" algn="l"/>
              </a:tabLst>
            </a:pPr>
            <a:r>
              <a:rPr lang="en-KE" sz="2400" b="1" kern="100" dirty="0">
                <a:effectLst/>
                <a:latin typeface="Verdana" panose="020B0604030504040204" pitchFamily="34" charset="0"/>
                <a:ea typeface="Aptos" panose="020B0004020202020204" pitchFamily="34" charset="0"/>
                <a:cs typeface="Times New Roman" panose="02020603050405020304" pitchFamily="18" charset="0"/>
              </a:rPr>
              <a:t>Recruitment and Retention</a:t>
            </a:r>
            <a:endParaRPr lang="en-KE" sz="24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gn="just">
              <a:lnSpc>
                <a:spcPct val="107000"/>
              </a:lnSpc>
              <a:spcAft>
                <a:spcPts val="800"/>
              </a:spcAft>
              <a:buSzPts val="1000"/>
              <a:buFont typeface="Courier New" panose="02070309020205020404" pitchFamily="49" charset="0"/>
              <a:buChar char="o"/>
              <a:tabLst>
                <a:tab pos="914400" algn="l"/>
              </a:tabLst>
            </a:pPr>
            <a:r>
              <a:rPr lang="en-KE" b="1" kern="100" dirty="0">
                <a:effectLst/>
                <a:latin typeface="Verdana" panose="020B0604030504040204" pitchFamily="34" charset="0"/>
                <a:ea typeface="Aptos" panose="020B0004020202020204" pitchFamily="34" charset="0"/>
                <a:cs typeface="Times New Roman" panose="02020603050405020304" pitchFamily="18" charset="0"/>
              </a:rPr>
              <a:t>Attracting Talent</a:t>
            </a:r>
            <a:r>
              <a:rPr lang="en-KE" kern="100" dirty="0">
                <a:effectLst/>
                <a:latin typeface="Verdana" panose="020B0604030504040204" pitchFamily="34" charset="0"/>
                <a:ea typeface="Aptos" panose="020B0004020202020204" pitchFamily="34" charset="0"/>
                <a:cs typeface="Times New Roman" panose="02020603050405020304" pitchFamily="18" charset="0"/>
              </a:rPr>
              <a:t>: Developing targeted recruitment strategies that highlight the benefits of working in the health sector, especially in underserved areas.</a:t>
            </a:r>
            <a:endParaRPr lang="en-KE" kern="100" dirty="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gn="just">
              <a:lnSpc>
                <a:spcPct val="107000"/>
              </a:lnSpc>
              <a:spcAft>
                <a:spcPts val="800"/>
              </a:spcAft>
              <a:buSzPts val="1000"/>
              <a:buFont typeface="Courier New" panose="02070309020205020404" pitchFamily="49" charset="0"/>
              <a:buChar char="o"/>
              <a:tabLst>
                <a:tab pos="914400" algn="l"/>
              </a:tabLst>
            </a:pPr>
            <a:r>
              <a:rPr lang="en-KE" b="1" kern="100" dirty="0">
                <a:effectLst/>
                <a:latin typeface="Verdana" panose="020B0604030504040204" pitchFamily="34" charset="0"/>
                <a:ea typeface="Aptos" panose="020B0004020202020204" pitchFamily="34" charset="0"/>
                <a:cs typeface="Times New Roman" panose="02020603050405020304" pitchFamily="18" charset="0"/>
              </a:rPr>
              <a:t>Diversity and Inclusion</a:t>
            </a:r>
            <a:r>
              <a:rPr lang="en-KE" kern="100" dirty="0">
                <a:effectLst/>
                <a:latin typeface="Verdana" panose="020B0604030504040204" pitchFamily="34" charset="0"/>
                <a:ea typeface="Aptos" panose="020B0004020202020204" pitchFamily="34" charset="0"/>
                <a:cs typeface="Times New Roman" panose="02020603050405020304" pitchFamily="18" charset="0"/>
              </a:rPr>
              <a:t>: Fostering a diverse workforce that reflects the population served, which can enhance cultural competence and patient care.</a:t>
            </a:r>
            <a:endParaRPr lang="en-KE"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KE" dirty="0"/>
          </a:p>
        </p:txBody>
      </p:sp>
    </p:spTree>
    <p:extLst>
      <p:ext uri="{BB962C8B-B14F-4D97-AF65-F5344CB8AC3E}">
        <p14:creationId xmlns:p14="http://schemas.microsoft.com/office/powerpoint/2010/main" val="15633473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D6014E-3D4B-A25B-A812-366B220D1521}"/>
              </a:ext>
            </a:extLst>
          </p:cNvPr>
          <p:cNvSpPr>
            <a:spLocks noGrp="1"/>
          </p:cNvSpPr>
          <p:nvPr>
            <p:ph idx="1"/>
          </p:nvPr>
        </p:nvSpPr>
        <p:spPr>
          <a:xfrm>
            <a:off x="838200" y="85060"/>
            <a:ext cx="10515600" cy="6358270"/>
          </a:xfrm>
        </p:spPr>
        <p:txBody>
          <a:bodyPr>
            <a:normAutofit lnSpcReduction="10000"/>
          </a:bodyPr>
          <a:lstStyle/>
          <a:p>
            <a:endParaRPr lang="en-KE" dirty="0">
              <a:effectLst/>
            </a:endParaRPr>
          </a:p>
          <a:p>
            <a:pPr marL="742950" lvl="1" indent="-285750" algn="just">
              <a:lnSpc>
                <a:spcPct val="107000"/>
              </a:lnSpc>
              <a:spcAft>
                <a:spcPts val="800"/>
              </a:spcAft>
              <a:buSzPts val="1000"/>
              <a:buFont typeface="Courier New" panose="02070309020205020404" pitchFamily="49" charset="0"/>
              <a:buChar char="o"/>
              <a:tabLst>
                <a:tab pos="914400" algn="l"/>
              </a:tabLst>
            </a:pPr>
            <a:r>
              <a:rPr lang="en-KE" b="1" kern="100" dirty="0">
                <a:effectLst/>
                <a:latin typeface="Verdana" panose="020B0604030504040204" pitchFamily="34" charset="0"/>
                <a:ea typeface="Aptos" panose="020B0004020202020204" pitchFamily="34" charset="0"/>
                <a:cs typeface="Times New Roman" panose="02020603050405020304" pitchFamily="18" charset="0"/>
              </a:rPr>
              <a:t>Retention Strategies</a:t>
            </a:r>
            <a:r>
              <a:rPr lang="en-KE" kern="100" dirty="0">
                <a:effectLst/>
                <a:latin typeface="Verdana" panose="020B0604030504040204" pitchFamily="34" charset="0"/>
                <a:ea typeface="Aptos" panose="020B0004020202020204" pitchFamily="34" charset="0"/>
                <a:cs typeface="Times New Roman" panose="02020603050405020304" pitchFamily="18" charset="0"/>
              </a:rPr>
              <a:t>: Implementing programs that promote job satisfaction, professional development, and work-life balance to retain skilled personnel. For instance:</a:t>
            </a:r>
            <a:endParaRPr lang="en-KE"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just">
              <a:lnSpc>
                <a:spcPct val="107000"/>
              </a:lnSpc>
              <a:buFont typeface="+mj-lt"/>
              <a:buAutoNum type="romanLcPeriod"/>
            </a:pPr>
            <a:r>
              <a:rPr lang="en-KE" sz="2400" b="1" kern="100" dirty="0">
                <a:effectLst/>
                <a:latin typeface="Verdana" panose="020B0604030504040204" pitchFamily="34" charset="0"/>
                <a:ea typeface="Aptos" panose="020B0004020202020204" pitchFamily="34" charset="0"/>
                <a:cs typeface="Times New Roman" panose="02020603050405020304" pitchFamily="18" charset="0"/>
              </a:rPr>
              <a:t>Work Environment</a:t>
            </a:r>
            <a:r>
              <a:rPr lang="en-KE" sz="2400" kern="100" dirty="0">
                <a:effectLst/>
                <a:latin typeface="Verdana" panose="020B0604030504040204" pitchFamily="34" charset="0"/>
                <a:ea typeface="Aptos" panose="020B0004020202020204" pitchFamily="34" charset="0"/>
                <a:cs typeface="Times New Roman" panose="02020603050405020304" pitchFamily="18" charset="0"/>
              </a:rPr>
              <a:t>: Creating a supportive work environment that promotes job satisfaction, including manageable workloads, adequate resources, and opportunities for advancement.</a:t>
            </a:r>
            <a:endParaRPr lang="en-KE" sz="24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just">
              <a:lnSpc>
                <a:spcPct val="107000"/>
              </a:lnSpc>
              <a:spcAft>
                <a:spcPts val="800"/>
              </a:spcAft>
              <a:buFont typeface="+mj-lt"/>
              <a:buAutoNum type="romanLcPeriod"/>
            </a:pPr>
            <a:r>
              <a:rPr lang="en-KE" sz="2400" b="1" kern="100" dirty="0">
                <a:effectLst/>
                <a:latin typeface="Verdana" panose="020B0604030504040204" pitchFamily="34" charset="0"/>
                <a:ea typeface="Aptos" panose="020B0004020202020204" pitchFamily="34" charset="0"/>
                <a:cs typeface="Times New Roman" panose="02020603050405020304" pitchFamily="18" charset="0"/>
              </a:rPr>
              <a:t>Employee Engagement</a:t>
            </a:r>
            <a:r>
              <a:rPr lang="en-KE" sz="2400" kern="100" dirty="0">
                <a:effectLst/>
                <a:latin typeface="Verdana" panose="020B0604030504040204" pitchFamily="34" charset="0"/>
                <a:ea typeface="Aptos" panose="020B0004020202020204" pitchFamily="34" charset="0"/>
                <a:cs typeface="Times New Roman" panose="02020603050405020304" pitchFamily="18" charset="0"/>
              </a:rPr>
              <a:t>: Involving healthcare workers in decision-making processes to foster a sense of ownership and commitment to their roles.</a:t>
            </a:r>
            <a:endParaRPr lang="en-KE" sz="24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just">
              <a:lnSpc>
                <a:spcPct val="107000"/>
              </a:lnSpc>
              <a:spcAft>
                <a:spcPts val="800"/>
              </a:spcAft>
              <a:buFont typeface="+mj-lt"/>
              <a:buAutoNum type="arabicPeriod"/>
              <a:tabLst>
                <a:tab pos="457200" algn="l"/>
              </a:tabLst>
            </a:pPr>
            <a:r>
              <a:rPr lang="en-KE" sz="2400" b="1" kern="100" dirty="0">
                <a:effectLst/>
                <a:latin typeface="Verdana" panose="020B0604030504040204" pitchFamily="34" charset="0"/>
                <a:ea typeface="Aptos" panose="020B0004020202020204" pitchFamily="34" charset="0"/>
                <a:cs typeface="Times New Roman" panose="02020603050405020304" pitchFamily="18" charset="0"/>
              </a:rPr>
              <a:t>Training and Development</a:t>
            </a:r>
            <a:endParaRPr lang="en-KE" sz="24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gn="just">
              <a:lnSpc>
                <a:spcPct val="107000"/>
              </a:lnSpc>
              <a:spcAft>
                <a:spcPts val="800"/>
              </a:spcAft>
              <a:buSzPts val="1000"/>
              <a:buFont typeface="Courier New" panose="02070309020205020404" pitchFamily="49" charset="0"/>
              <a:buChar char="o"/>
              <a:tabLst>
                <a:tab pos="914400" algn="l"/>
              </a:tabLst>
            </a:pPr>
            <a:r>
              <a:rPr lang="en-KE" b="1" kern="100" dirty="0">
                <a:effectLst/>
                <a:latin typeface="Verdana" panose="020B0604030504040204" pitchFamily="34" charset="0"/>
                <a:ea typeface="Aptos" panose="020B0004020202020204" pitchFamily="34" charset="0"/>
                <a:cs typeface="Times New Roman" panose="02020603050405020304" pitchFamily="18" charset="0"/>
              </a:rPr>
              <a:t>Education and Training Programs</a:t>
            </a:r>
            <a:r>
              <a:rPr lang="en-KE" kern="100" dirty="0">
                <a:effectLst/>
                <a:latin typeface="Verdana" panose="020B0604030504040204" pitchFamily="34" charset="0"/>
                <a:ea typeface="Aptos" panose="020B0004020202020204" pitchFamily="34" charset="0"/>
                <a:cs typeface="Times New Roman" panose="02020603050405020304" pitchFamily="18" charset="0"/>
              </a:rPr>
              <a:t>: Collaborating with educational institutions to ensure that curricula align with the evolving needs of the health sector.</a:t>
            </a:r>
            <a:endParaRPr lang="en-KE" kern="100" dirty="0">
              <a:effectLst/>
              <a:latin typeface="Aptos" panose="020B0004020202020204" pitchFamily="34" charset="0"/>
              <a:ea typeface="Aptos" panose="020B0004020202020204" pitchFamily="34" charset="0"/>
              <a:cs typeface="Times New Roman" panose="02020603050405020304" pitchFamily="18" charset="0"/>
            </a:endParaRPr>
          </a:p>
          <a:p>
            <a:r>
              <a:rPr lang="en-KE" sz="2400" b="1" dirty="0">
                <a:effectLst/>
                <a:latin typeface="Verdana" panose="020B0604030504040204" pitchFamily="34" charset="0"/>
                <a:ea typeface="Aptos" panose="020B0004020202020204" pitchFamily="34" charset="0"/>
                <a:cs typeface="Times New Roman" panose="02020603050405020304" pitchFamily="18" charset="0"/>
              </a:rPr>
              <a:t>Continuous Professional Development</a:t>
            </a:r>
            <a:r>
              <a:rPr lang="en-KE" sz="2400" dirty="0">
                <a:effectLst/>
                <a:latin typeface="Verdana" panose="020B0604030504040204" pitchFamily="34" charset="0"/>
                <a:ea typeface="Aptos" panose="020B0004020202020204" pitchFamily="34" charset="0"/>
                <a:cs typeface="Times New Roman" panose="02020603050405020304" pitchFamily="18" charset="0"/>
              </a:rPr>
              <a:t>: Offering ongoing training opportunities to keep healthcare workers updated on best practices and emerging health </a:t>
            </a:r>
            <a:endParaRPr lang="en-KE" sz="2400" dirty="0"/>
          </a:p>
        </p:txBody>
      </p:sp>
    </p:spTree>
    <p:extLst>
      <p:ext uri="{BB962C8B-B14F-4D97-AF65-F5344CB8AC3E}">
        <p14:creationId xmlns:p14="http://schemas.microsoft.com/office/powerpoint/2010/main" val="30528852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1DBAB3-AF60-E4E4-8DB6-327FB1037590}"/>
              </a:ext>
            </a:extLst>
          </p:cNvPr>
          <p:cNvSpPr>
            <a:spLocks noGrp="1"/>
          </p:cNvSpPr>
          <p:nvPr>
            <p:ph idx="1"/>
          </p:nvPr>
        </p:nvSpPr>
        <p:spPr>
          <a:xfrm>
            <a:off x="838200" y="170120"/>
            <a:ext cx="10515600" cy="6188149"/>
          </a:xfrm>
        </p:spPr>
        <p:txBody>
          <a:bodyPr>
            <a:normAutofit/>
          </a:bodyPr>
          <a:lstStyle/>
          <a:p>
            <a:pPr marL="342900" lvl="0" indent="-342900" algn="just">
              <a:lnSpc>
                <a:spcPct val="107000"/>
              </a:lnSpc>
              <a:spcAft>
                <a:spcPts val="800"/>
              </a:spcAft>
              <a:buFont typeface="+mj-lt"/>
              <a:buAutoNum type="arabicPeriod"/>
              <a:tabLst>
                <a:tab pos="457200" algn="l"/>
              </a:tabLst>
            </a:pPr>
            <a:r>
              <a:rPr lang="en-KE" sz="2400" b="1" kern="100" dirty="0">
                <a:effectLst/>
                <a:latin typeface="Verdana" panose="020B0604030504040204" pitchFamily="34" charset="0"/>
                <a:ea typeface="Aptos" panose="020B0004020202020204" pitchFamily="34" charset="0"/>
                <a:cs typeface="Times New Roman" panose="02020603050405020304" pitchFamily="18" charset="0"/>
              </a:rPr>
              <a:t>Workforce Distribution</a:t>
            </a:r>
            <a:endParaRPr lang="en-KE" sz="24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gn="just">
              <a:lnSpc>
                <a:spcPct val="107000"/>
              </a:lnSpc>
              <a:spcAft>
                <a:spcPts val="800"/>
              </a:spcAft>
              <a:buSzPts val="1000"/>
              <a:buFont typeface="Courier New" panose="02070309020205020404" pitchFamily="49" charset="0"/>
              <a:buChar char="o"/>
              <a:tabLst>
                <a:tab pos="914400" algn="l"/>
              </a:tabLst>
            </a:pPr>
            <a:r>
              <a:rPr lang="en-KE" b="1" kern="100" dirty="0">
                <a:effectLst/>
                <a:latin typeface="Verdana" panose="020B0604030504040204" pitchFamily="34" charset="0"/>
                <a:ea typeface="Aptos" panose="020B0004020202020204" pitchFamily="34" charset="0"/>
                <a:cs typeface="Times New Roman" panose="02020603050405020304" pitchFamily="18" charset="0"/>
              </a:rPr>
              <a:t>Equitable Distribution</a:t>
            </a:r>
            <a:r>
              <a:rPr lang="en-KE" kern="100" dirty="0">
                <a:effectLst/>
                <a:latin typeface="Verdana" panose="020B0604030504040204" pitchFamily="34" charset="0"/>
                <a:ea typeface="Aptos" panose="020B0004020202020204" pitchFamily="34" charset="0"/>
                <a:cs typeface="Times New Roman" panose="02020603050405020304" pitchFamily="18" charset="0"/>
              </a:rPr>
              <a:t>: Ensuring that healthcare workers are distributed based on population needs, addressing disparities between urban and rural areas.</a:t>
            </a:r>
            <a:endParaRPr lang="en-KE" kern="100" dirty="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gn="just">
              <a:lnSpc>
                <a:spcPct val="107000"/>
              </a:lnSpc>
              <a:spcAft>
                <a:spcPts val="800"/>
              </a:spcAft>
              <a:buSzPts val="1000"/>
              <a:buFont typeface="Courier New" panose="02070309020205020404" pitchFamily="49" charset="0"/>
              <a:buChar char="o"/>
              <a:tabLst>
                <a:tab pos="914400" algn="l"/>
              </a:tabLst>
            </a:pPr>
            <a:r>
              <a:rPr lang="en-KE" b="1" kern="100" dirty="0">
                <a:effectLst/>
                <a:latin typeface="Verdana" panose="020B0604030504040204" pitchFamily="34" charset="0"/>
                <a:ea typeface="Aptos" panose="020B0004020202020204" pitchFamily="34" charset="0"/>
                <a:cs typeface="Times New Roman" panose="02020603050405020304" pitchFamily="18" charset="0"/>
              </a:rPr>
              <a:t>Task Shifting</a:t>
            </a:r>
            <a:r>
              <a:rPr lang="en-KE" kern="100" dirty="0">
                <a:effectLst/>
                <a:latin typeface="Verdana" panose="020B0604030504040204" pitchFamily="34" charset="0"/>
                <a:ea typeface="Aptos" panose="020B0004020202020204" pitchFamily="34" charset="0"/>
                <a:cs typeface="Times New Roman" panose="02020603050405020304" pitchFamily="18" charset="0"/>
              </a:rPr>
              <a:t>: Empowering lower-level health workers to take on tasks traditionally performed by higher-level professionals to optimize resource use.</a:t>
            </a:r>
            <a:endParaRPr lang="en-KE"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just">
              <a:lnSpc>
                <a:spcPct val="107000"/>
              </a:lnSpc>
              <a:spcAft>
                <a:spcPts val="800"/>
              </a:spcAft>
              <a:buFont typeface="+mj-lt"/>
              <a:buAutoNum type="arabicPeriod"/>
              <a:tabLst>
                <a:tab pos="457200" algn="l"/>
              </a:tabLst>
            </a:pPr>
            <a:r>
              <a:rPr lang="en-KE" sz="2400" b="1" kern="100" dirty="0">
                <a:effectLst/>
                <a:latin typeface="Verdana" panose="020B0604030504040204" pitchFamily="34" charset="0"/>
                <a:ea typeface="Aptos" panose="020B0004020202020204" pitchFamily="34" charset="0"/>
                <a:cs typeface="Times New Roman" panose="02020603050405020304" pitchFamily="18" charset="0"/>
              </a:rPr>
              <a:t>Performance Management</a:t>
            </a:r>
            <a:endParaRPr lang="en-KE" sz="24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gn="just">
              <a:lnSpc>
                <a:spcPct val="107000"/>
              </a:lnSpc>
              <a:spcAft>
                <a:spcPts val="800"/>
              </a:spcAft>
              <a:buSzPts val="1000"/>
              <a:buFont typeface="Courier New" panose="02070309020205020404" pitchFamily="49" charset="0"/>
              <a:buChar char="o"/>
              <a:tabLst>
                <a:tab pos="914400" algn="l"/>
              </a:tabLst>
            </a:pPr>
            <a:r>
              <a:rPr lang="en-KE" b="1" kern="100" dirty="0">
                <a:effectLst/>
                <a:latin typeface="Verdana" panose="020B0604030504040204" pitchFamily="34" charset="0"/>
                <a:ea typeface="Aptos" panose="020B0004020202020204" pitchFamily="34" charset="0"/>
                <a:cs typeface="Times New Roman" panose="02020603050405020304" pitchFamily="18" charset="0"/>
              </a:rPr>
              <a:t>Monitoring and Evaluation</a:t>
            </a:r>
            <a:r>
              <a:rPr lang="en-KE" kern="100" dirty="0">
                <a:effectLst/>
                <a:latin typeface="Verdana" panose="020B0604030504040204" pitchFamily="34" charset="0"/>
                <a:ea typeface="Aptos" panose="020B0004020202020204" pitchFamily="34" charset="0"/>
                <a:cs typeface="Times New Roman" panose="02020603050405020304" pitchFamily="18" charset="0"/>
              </a:rPr>
              <a:t>: Implementing systems to assess the performance of healthcare workers regularly, providing feedback, and recognizing achievements.</a:t>
            </a:r>
            <a:endParaRPr lang="en-KE" kern="100" dirty="0">
              <a:effectLst/>
              <a:latin typeface="Aptos" panose="020B0004020202020204" pitchFamily="34" charset="0"/>
              <a:ea typeface="Aptos" panose="020B0004020202020204" pitchFamily="34" charset="0"/>
              <a:cs typeface="Times New Roman" panose="02020603050405020304" pitchFamily="18" charset="0"/>
            </a:endParaRPr>
          </a:p>
          <a:p>
            <a:pPr marL="914400" algn="just">
              <a:lnSpc>
                <a:spcPct val="107000"/>
              </a:lnSpc>
              <a:spcAft>
                <a:spcPts val="800"/>
              </a:spcAft>
            </a:pPr>
            <a:r>
              <a:rPr lang="en-KE" sz="2400" b="1" kern="100" dirty="0">
                <a:effectLst/>
                <a:latin typeface="Verdana" panose="020B0604030504040204" pitchFamily="34" charset="0"/>
                <a:ea typeface="Aptos" panose="020B0004020202020204" pitchFamily="34" charset="0"/>
                <a:cs typeface="Times New Roman" panose="02020603050405020304" pitchFamily="18" charset="0"/>
              </a:rPr>
              <a:t>Career Pathways</a:t>
            </a:r>
            <a:r>
              <a:rPr lang="en-KE" sz="2400" kern="100" dirty="0">
                <a:effectLst/>
                <a:latin typeface="Verdana" panose="020B0604030504040204" pitchFamily="34" charset="0"/>
                <a:ea typeface="Aptos" panose="020B0004020202020204" pitchFamily="34" charset="0"/>
                <a:cs typeface="Times New Roman" panose="02020603050405020304" pitchFamily="18" charset="0"/>
              </a:rPr>
              <a:t>: Establishing clear career advancement pathways to motivate staff and reduce </a:t>
            </a:r>
            <a:r>
              <a:rPr lang="en-KE" sz="1200" kern="100" dirty="0">
                <a:effectLst/>
                <a:latin typeface="Verdana" panose="020B0604030504040204" pitchFamily="34" charset="0"/>
                <a:ea typeface="Aptos" panose="020B0004020202020204" pitchFamily="34" charset="0"/>
                <a:cs typeface="Times New Roman" panose="02020603050405020304" pitchFamily="18" charset="0"/>
              </a:rPr>
              <a:t>turnover</a:t>
            </a:r>
            <a:endParaRPr lang="en-KE" sz="11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KE" dirty="0"/>
          </a:p>
        </p:txBody>
      </p:sp>
    </p:spTree>
    <p:extLst>
      <p:ext uri="{BB962C8B-B14F-4D97-AF65-F5344CB8AC3E}">
        <p14:creationId xmlns:p14="http://schemas.microsoft.com/office/powerpoint/2010/main" val="36678075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0E1242-1B6A-595C-9B15-38AEFD6B08C6}"/>
              </a:ext>
            </a:extLst>
          </p:cNvPr>
          <p:cNvSpPr>
            <a:spLocks noGrp="1"/>
          </p:cNvSpPr>
          <p:nvPr>
            <p:ph idx="1"/>
          </p:nvPr>
        </p:nvSpPr>
        <p:spPr>
          <a:xfrm>
            <a:off x="838200" y="138222"/>
            <a:ext cx="10515600" cy="6262577"/>
          </a:xfrm>
        </p:spPr>
        <p:txBody>
          <a:bodyPr>
            <a:normAutofit/>
          </a:bodyPr>
          <a:lstStyle/>
          <a:p>
            <a:pPr algn="just">
              <a:lnSpc>
                <a:spcPct val="107000"/>
              </a:lnSpc>
              <a:spcAft>
                <a:spcPts val="800"/>
              </a:spcAft>
            </a:pPr>
            <a:r>
              <a:rPr lang="en-KE" b="1" kern="100" dirty="0">
                <a:effectLst/>
                <a:latin typeface="Verdana" panose="020B0604030504040204" pitchFamily="34" charset="0"/>
                <a:ea typeface="Aptos" panose="020B0004020202020204" pitchFamily="34" charset="0"/>
                <a:cs typeface="Times New Roman" panose="02020603050405020304" pitchFamily="18" charset="0"/>
              </a:rPr>
              <a:t>Challenges in Workforce Production</a:t>
            </a:r>
            <a:endParaRPr lang="en-KE"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KE" b="1" kern="100" dirty="0">
                <a:effectLst/>
                <a:latin typeface="Verdana" panose="020B0604030504040204" pitchFamily="34" charset="0"/>
                <a:ea typeface="Aptos" panose="020B0004020202020204" pitchFamily="34" charset="0"/>
                <a:cs typeface="Times New Roman" panose="02020603050405020304" pitchFamily="18" charset="0"/>
              </a:rPr>
              <a:t>Shortages of Healthcare Professionals</a:t>
            </a:r>
            <a:r>
              <a:rPr lang="en-KE" kern="100" dirty="0">
                <a:effectLst/>
                <a:latin typeface="Verdana" panose="020B0604030504040204" pitchFamily="34" charset="0"/>
                <a:ea typeface="Aptos" panose="020B0004020202020204" pitchFamily="34" charset="0"/>
                <a:cs typeface="Times New Roman" panose="02020603050405020304" pitchFamily="18" charset="0"/>
              </a:rPr>
              <a:t>: Many regions face significant shortages, particularly in primary care and specialized fields.</a:t>
            </a:r>
            <a:endParaRPr lang="en-KE"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KE" b="1" kern="100" dirty="0">
                <a:effectLst/>
                <a:latin typeface="Verdana" panose="020B0604030504040204" pitchFamily="34" charset="0"/>
                <a:ea typeface="Aptos" panose="020B0004020202020204" pitchFamily="34" charset="0"/>
                <a:cs typeface="Times New Roman" panose="02020603050405020304" pitchFamily="18" charset="0"/>
              </a:rPr>
              <a:t>Burnout and Job Dissatisfaction</a:t>
            </a:r>
            <a:r>
              <a:rPr lang="en-KE" kern="100" dirty="0">
                <a:effectLst/>
                <a:latin typeface="Verdana" panose="020B0604030504040204" pitchFamily="34" charset="0"/>
                <a:ea typeface="Aptos" panose="020B0004020202020204" pitchFamily="34" charset="0"/>
                <a:cs typeface="Times New Roman" panose="02020603050405020304" pitchFamily="18" charset="0"/>
              </a:rPr>
              <a:t>: High levels of stress and inadequate support can lead to burnout, negatively impacting retention.</a:t>
            </a:r>
            <a:endParaRPr lang="en-KE" kern="100" dirty="0">
              <a:effectLst/>
              <a:latin typeface="Aptos" panose="020B0004020202020204" pitchFamily="34" charset="0"/>
              <a:ea typeface="Aptos" panose="020B0004020202020204" pitchFamily="34" charset="0"/>
              <a:cs typeface="Times New Roman" panose="02020603050405020304" pitchFamily="18" charset="0"/>
            </a:endParaRPr>
          </a:p>
          <a:p>
            <a:r>
              <a:rPr lang="en-KE" b="1" dirty="0">
                <a:effectLst/>
                <a:latin typeface="Verdana" panose="020B0604030504040204" pitchFamily="34" charset="0"/>
                <a:ea typeface="Aptos" panose="020B0004020202020204" pitchFamily="34" charset="0"/>
                <a:cs typeface="Times New Roman" panose="02020603050405020304" pitchFamily="18" charset="0"/>
              </a:rPr>
              <a:t>Inadequate Funding</a:t>
            </a:r>
            <a:r>
              <a:rPr lang="en-KE" dirty="0">
                <a:effectLst/>
                <a:latin typeface="Verdana" panose="020B0604030504040204" pitchFamily="34" charset="0"/>
                <a:ea typeface="Aptos" panose="020B0004020202020204" pitchFamily="34" charset="0"/>
                <a:cs typeface="Times New Roman" panose="02020603050405020304" pitchFamily="18" charset="0"/>
              </a:rPr>
              <a:t>: Limited financial resources can hinder recruitment, training, and retention </a:t>
            </a:r>
            <a:endParaRPr lang="en-KE" dirty="0"/>
          </a:p>
        </p:txBody>
      </p:sp>
    </p:spTree>
    <p:extLst>
      <p:ext uri="{BB962C8B-B14F-4D97-AF65-F5344CB8AC3E}">
        <p14:creationId xmlns:p14="http://schemas.microsoft.com/office/powerpoint/2010/main" val="7887548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F435D1-73FD-34F8-41C5-28031A896B84}"/>
              </a:ext>
            </a:extLst>
          </p:cNvPr>
          <p:cNvSpPr>
            <a:spLocks noGrp="1"/>
          </p:cNvSpPr>
          <p:nvPr>
            <p:ph idx="1"/>
          </p:nvPr>
        </p:nvSpPr>
        <p:spPr>
          <a:xfrm>
            <a:off x="838200" y="170121"/>
            <a:ext cx="10515600" cy="6326372"/>
          </a:xfrm>
        </p:spPr>
        <p:txBody>
          <a:bodyPr/>
          <a:lstStyle/>
          <a:p>
            <a:pPr algn="just">
              <a:lnSpc>
                <a:spcPct val="107000"/>
              </a:lnSpc>
              <a:spcAft>
                <a:spcPts val="800"/>
              </a:spcAft>
            </a:pPr>
            <a:r>
              <a:rPr lang="en-KE" b="1" kern="100" dirty="0">
                <a:effectLst/>
                <a:latin typeface="Verdana" panose="020B0604030504040204" pitchFamily="34" charset="0"/>
                <a:ea typeface="Aptos" panose="020B0004020202020204" pitchFamily="34" charset="0"/>
                <a:cs typeface="Times New Roman" panose="02020603050405020304" pitchFamily="18" charset="0"/>
              </a:rPr>
              <a:t>Strategies for Improvement</a:t>
            </a:r>
            <a:endParaRPr lang="en-KE"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KE" b="1" kern="100" dirty="0">
                <a:effectLst/>
                <a:latin typeface="Verdana" panose="020B0604030504040204" pitchFamily="34" charset="0"/>
                <a:ea typeface="Aptos" panose="020B0004020202020204" pitchFamily="34" charset="0"/>
                <a:cs typeface="Times New Roman" panose="02020603050405020304" pitchFamily="18" charset="0"/>
              </a:rPr>
              <a:t>Policy Development</a:t>
            </a:r>
            <a:r>
              <a:rPr lang="en-KE" kern="100" dirty="0">
                <a:effectLst/>
                <a:latin typeface="Verdana" panose="020B0604030504040204" pitchFamily="34" charset="0"/>
                <a:ea typeface="Aptos" panose="020B0004020202020204" pitchFamily="34" charset="0"/>
                <a:cs typeface="Times New Roman" panose="02020603050405020304" pitchFamily="18" charset="0"/>
              </a:rPr>
              <a:t>: Advocating for supportive policies that promote workforce sustainability, including better funding and incentives for health professionals.</a:t>
            </a:r>
            <a:endParaRPr lang="en-KE"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KE" b="1" kern="100" dirty="0">
                <a:effectLst/>
                <a:latin typeface="Verdana" panose="020B0604030504040204" pitchFamily="34" charset="0"/>
                <a:ea typeface="Aptos" panose="020B0004020202020204" pitchFamily="34" charset="0"/>
                <a:cs typeface="Times New Roman" panose="02020603050405020304" pitchFamily="18" charset="0"/>
              </a:rPr>
              <a:t>Public-Private Partnerships</a:t>
            </a:r>
            <a:r>
              <a:rPr lang="en-KE" kern="100" dirty="0">
                <a:effectLst/>
                <a:latin typeface="Verdana" panose="020B0604030504040204" pitchFamily="34" charset="0"/>
                <a:ea typeface="Aptos" panose="020B0004020202020204" pitchFamily="34" charset="0"/>
                <a:cs typeface="Times New Roman" panose="02020603050405020304" pitchFamily="18" charset="0"/>
              </a:rPr>
              <a:t>: Engaging with private sector entities to enhance training, mentorship, and job placement for health workers.</a:t>
            </a:r>
            <a:endParaRPr lang="en-KE"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KE" b="1" kern="100" dirty="0">
                <a:effectLst/>
                <a:latin typeface="Verdana" panose="020B0604030504040204" pitchFamily="34" charset="0"/>
                <a:ea typeface="Aptos" panose="020B0004020202020204" pitchFamily="34" charset="0"/>
                <a:cs typeface="Times New Roman" panose="02020603050405020304" pitchFamily="18" charset="0"/>
              </a:rPr>
              <a:t>Use of Technology</a:t>
            </a:r>
            <a:r>
              <a:rPr lang="en-KE" kern="100" dirty="0">
                <a:effectLst/>
                <a:latin typeface="Verdana" panose="020B0604030504040204" pitchFamily="34" charset="0"/>
                <a:ea typeface="Aptos" panose="020B0004020202020204" pitchFamily="34" charset="0"/>
                <a:cs typeface="Times New Roman" panose="02020603050405020304" pitchFamily="18" charset="0"/>
              </a:rPr>
              <a:t>: Leveraging telehealth and digital platforms to expand access to training and support for health workers, especially in remote areas.</a:t>
            </a:r>
            <a:endParaRPr lang="en-KE"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KE" dirty="0"/>
          </a:p>
        </p:txBody>
      </p:sp>
    </p:spTree>
    <p:extLst>
      <p:ext uri="{BB962C8B-B14F-4D97-AF65-F5344CB8AC3E}">
        <p14:creationId xmlns:p14="http://schemas.microsoft.com/office/powerpoint/2010/main" val="40589658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7B200E-B9DA-D504-F4D7-35CA5D5546D2}"/>
              </a:ext>
            </a:extLst>
          </p:cNvPr>
          <p:cNvSpPr>
            <a:spLocks noGrp="1"/>
          </p:cNvSpPr>
          <p:nvPr>
            <p:ph idx="1"/>
          </p:nvPr>
        </p:nvSpPr>
        <p:spPr>
          <a:xfrm>
            <a:off x="838200" y="372140"/>
            <a:ext cx="10515600" cy="5804823"/>
          </a:xfrm>
        </p:spPr>
        <p:txBody>
          <a:bodyPr/>
          <a:lstStyle/>
          <a:p>
            <a:pPr algn="just">
              <a:lnSpc>
                <a:spcPct val="107000"/>
              </a:lnSpc>
              <a:spcAft>
                <a:spcPts val="800"/>
              </a:spcAft>
            </a:pPr>
            <a:r>
              <a:rPr lang="en-KE" b="1" kern="100" dirty="0">
                <a:effectLst/>
                <a:latin typeface="Verdana" panose="020B0604030504040204" pitchFamily="34" charset="0"/>
                <a:ea typeface="Aptos" panose="020B0004020202020204" pitchFamily="34" charset="0"/>
                <a:cs typeface="Times New Roman" panose="02020603050405020304" pitchFamily="18" charset="0"/>
              </a:rPr>
              <a:t>Conclusion</a:t>
            </a:r>
            <a:endParaRPr lang="en-KE"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7000"/>
              </a:lnSpc>
              <a:spcAft>
                <a:spcPts val="800"/>
              </a:spcAft>
            </a:pPr>
            <a:r>
              <a:rPr lang="en-KE" kern="100" dirty="0">
                <a:effectLst/>
                <a:latin typeface="Verdana" panose="020B0604030504040204" pitchFamily="34" charset="0"/>
                <a:ea typeface="Aptos" panose="020B0004020202020204" pitchFamily="34" charset="0"/>
                <a:cs typeface="Times New Roman" panose="02020603050405020304" pitchFamily="18" charset="0"/>
              </a:rPr>
              <a:t>Workforce production is a vital aspect of human resources for health, directly influencing the effectiveness and efficiency of health services. By addressing the challenges and implementing strategic initiatives, health systems can ensure a robust workforce capable of meeting current and future health needs. Continued investment in workforce production is essential for achieving universal health coverage and improving global health outcomes.</a:t>
            </a:r>
            <a:endParaRPr lang="en-KE"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a:p>
            <a:endParaRPr lang="en-US" dirty="0"/>
          </a:p>
          <a:p>
            <a:pPr marL="0" indent="0" algn="ctr">
              <a:buNone/>
            </a:pPr>
            <a:r>
              <a:rPr lang="en-US" sz="4400" b="1" dirty="0"/>
              <a:t>THANK YOU</a:t>
            </a:r>
            <a:endParaRPr lang="en-KE" sz="4400" b="1" dirty="0"/>
          </a:p>
        </p:txBody>
      </p:sp>
    </p:spTree>
    <p:extLst>
      <p:ext uri="{BB962C8B-B14F-4D97-AF65-F5344CB8AC3E}">
        <p14:creationId xmlns:p14="http://schemas.microsoft.com/office/powerpoint/2010/main" val="3407586618"/>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9</TotalTime>
  <Words>931</Words>
  <Application>Microsoft Office PowerPoint</Application>
  <PresentationFormat>Widescreen</PresentationFormat>
  <Paragraphs>52</Paragraphs>
  <Slides>13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Aptos</vt:lpstr>
      <vt:lpstr>Arial</vt:lpstr>
      <vt:lpstr>Courier New</vt:lpstr>
      <vt:lpstr>Symbol</vt:lpstr>
      <vt:lpstr>Trebuchet MS</vt:lpstr>
      <vt:lpstr>Verdana</vt:lpstr>
      <vt:lpstr>Wingdings 3</vt:lpstr>
      <vt:lpstr>Facet</vt:lpstr>
      <vt:lpstr>Human Resources for Workforce production</vt:lpstr>
      <vt:lpstr>Introduction</vt:lpstr>
      <vt:lpstr>Labour Market Dynamics </vt:lpstr>
      <vt:lpstr>Governance </vt:lpstr>
      <vt:lpstr>Policy &amp; Legislative Framework </vt:lpstr>
      <vt:lpstr>PowerPoint Presentation</vt:lpstr>
      <vt:lpstr>Importance of Workforce Production </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Fatma M. Shafi</dc:creator>
  <cp:lastModifiedBy>USER</cp:lastModifiedBy>
  <cp:revision>2</cp:revision>
  <dcterms:created xsi:type="dcterms:W3CDTF">2024-10-09T12:31:22Z</dcterms:created>
  <dcterms:modified xsi:type="dcterms:W3CDTF">2024-10-10T11:55:37Z</dcterms:modified>
</cp:coreProperties>
</file>