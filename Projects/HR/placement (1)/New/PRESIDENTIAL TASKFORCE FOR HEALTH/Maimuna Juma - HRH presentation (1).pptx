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8" r:id="rId4"/>
    <p:sldId id="268" r:id="rId5"/>
    <p:sldId id="257" r:id="rId6"/>
    <p:sldId id="269" r:id="rId7"/>
    <p:sldId id="259" r:id="rId8"/>
    <p:sldId id="270" r:id="rId9"/>
    <p:sldId id="260" r:id="rId10"/>
    <p:sldId id="264" r:id="rId11"/>
    <p:sldId id="271" r:id="rId12"/>
    <p:sldId id="261" r:id="rId13"/>
    <p:sldId id="272" r:id="rId14"/>
    <p:sldId id="263" r:id="rId15"/>
    <p:sldId id="265" r:id="rId16"/>
    <p:sldId id="26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 snapToGrid="0">
      <p:cViewPr varScale="1">
        <p:scale>
          <a:sx n="63" d="100"/>
          <a:sy n="63" d="100"/>
        </p:scale>
        <p:origin x="22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F5FF0-93AD-5427-E17F-72868A1EE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5E9-EDB2-3528-7B43-D8FCF224B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004FE-9038-498D-E40E-1538F855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AAC30-0AAA-84AA-C680-C76AF13C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3485E-7ED4-AC1D-6697-1D8FF1C2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25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7A4D3-4C12-084D-B8C1-8962C95D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A514-906A-77E6-ABDC-323FEED47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DA2A-B495-E257-107E-F1332D0CE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69666-CEFF-0B4B-F787-7BB1D1A7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1EDE4-C2D1-2651-E875-6A98C228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0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A4F0A-09C0-0EE3-BD98-53234029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11F1E-C1E2-F1DA-881A-2A7EE0E9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E1ECB-5093-2900-BFDC-DA61BF4E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7C6D8-4EA4-FE56-B860-108598AA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8D51F-3722-8D18-5FCF-78E345228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4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3DA9-7967-248B-75E7-50D8BCCD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18237-A6DD-35AB-6432-3BBAB2D83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FE523-89EB-57E6-9538-F015301A3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D255A-A568-BD9B-D697-A447D32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D760F-7702-4EB5-60A2-13CCD6A6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14715-71FB-A3D8-1C77-0C2826A8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6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43E91-2216-7F85-84AE-4F9BC18E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3B2267-7D54-7290-492A-741C44E15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B9D2B-C65A-0D57-B651-7C070F7C3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10F4A-5457-DA01-1F60-1D3CCB9F8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899B2-782D-0BF9-5FFD-60F85D2CB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0E634A-E470-6EA2-C514-BBA2569F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1839B-977B-01DD-4EF1-7F9D491D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D7D5B8-3E76-E96B-57D0-9F5D3BF7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38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87C2-1F2C-8AA4-D6A7-D9A6A113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71FA2-C250-DAD9-F64C-E0DFEB7C7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8D2B7-06CE-194C-7441-0EFB7B8A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9C192-881C-E9D0-A96E-5AD1FF827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FF6323-79F9-C561-46D4-F7528FA7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8DF42D-3E6E-4D94-751C-719A878F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27896-27B9-3773-4B0C-550F4A4E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2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BE32-6159-9704-30CD-82883A97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715C5-A926-E766-EDB0-966BCD921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4A6C3-E5F0-971C-69C9-6E7B02A30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2D368-773F-A683-3ACE-AEA1F06E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27B6E-6E42-CE67-7F8E-796ACAEA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736AB-E332-306D-0EE2-52A1B8C6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8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0398-B7F8-5C71-6C87-DCCF8E06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A3FA98-1653-98E1-8E77-D4D30505E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E8D1F-D016-E799-011A-6BC0848A8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28C2B-1A9D-9339-EBC6-67AB26B1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241D8-6031-699D-0798-53D1D96A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86AB3-C3AD-38BE-848E-F6AC8814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02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793C-0995-03FA-AF6B-4213126E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68F95-D70B-6ABE-5B78-3F252684E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41B39-E36C-FC6C-C4D0-FEC734E8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98FC0-B3C9-97DF-AE98-1EA846C5B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2C03-D5B9-ED9E-25FD-1F16CE2E2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108B2-9EEC-8779-1E58-7AB1058D8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5A1CA-8C2F-4E33-7D40-94A21A129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32C8D-E8B9-4864-4762-1368C593F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6A3B-1446-C1B5-C546-EA8AB446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0EC24-7AB2-71B7-9685-448E1740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4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4220E-0586-9EAB-DBD8-1B37D868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525C8-8396-971A-F932-681BE8888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C2E60-9AA6-0294-6065-409E13FB0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11F22A-D917-4813-9177-0CF59E96252A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56BB4-0EEC-610B-AED2-1B929AA2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1A94-B0F0-A3CB-2CEA-A674DF48E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78AC8-5CBB-4EA3-A3B6-6F34B93A1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3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8E75-102C-DC43-9D32-29204C7C6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8879"/>
            <a:ext cx="9144000" cy="1041083"/>
          </a:xfrm>
        </p:spPr>
        <p:txBody>
          <a:bodyPr/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Resources for Health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AC199-925D-0A52-40C9-AC8C9046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7320" y="4659461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Maimuna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Juma</a:t>
            </a: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Kenya Institute of Primate Research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11/10/24</a:t>
            </a:r>
          </a:p>
        </p:txBody>
      </p:sp>
      <p:pic>
        <p:nvPicPr>
          <p:cNvPr id="7" name="Picture 6" descr="A monkey sitting on a log next to a waterfall&#10;&#10;Description automatically generated">
            <a:extLst>
              <a:ext uri="{FF2B5EF4-FFF2-40B4-BE49-F238E27FC236}">
                <a16:creationId xmlns:a16="http://schemas.microsoft.com/office/drawing/2014/main" id="{D049C9D7-E829-993C-12E0-24251C66F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r="69783"/>
          <a:stretch/>
        </p:blipFill>
        <p:spPr>
          <a:xfrm>
            <a:off x="202758" y="201318"/>
            <a:ext cx="3021496" cy="2114845"/>
          </a:xfrm>
          <a:prstGeom prst="rect">
            <a:avLst/>
          </a:prstGeom>
        </p:spPr>
      </p:pic>
      <p:pic>
        <p:nvPicPr>
          <p:cNvPr id="8" name="Picture 8" descr="Government of Kenya Logo PNG vector in SVG, PDF, AI, CDR format">
            <a:extLst>
              <a:ext uri="{FF2B5EF4-FFF2-40B4-BE49-F238E27FC236}">
                <a16:creationId xmlns:a16="http://schemas.microsoft.com/office/drawing/2014/main" id="{77F90B4F-BC24-98F0-D810-AE2615EF9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4570" y="207963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991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8367-92E6-B255-9BF8-042D0319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AND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A3703-1222-A95F-F6B8-44D317B13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Innovative research and conservation for better human health</a:t>
            </a:r>
          </a:p>
          <a:p>
            <a:pPr marL="0" indent="0">
              <a:buNone/>
            </a:pP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Mission Statement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promote public health through innovative preclinical &amp; biomedical research, training and biodiversity conservation</a:t>
            </a:r>
          </a:p>
          <a:p>
            <a:pPr marL="0" indent="0"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93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8ED1-3FE5-39DF-820E-D4702067A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375285"/>
            <a:ext cx="8763000" cy="80327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Workforce production.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254F9-CC30-F06C-CEE9-34BBBCE1A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85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Human resource play a pivotal role in workforce production by optimizing employees performance and engagements.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hr strategies focus on recruitments, training and development ensuring that organization harness the full potential of their work force by fostering a culture of continuous improvements and aligning individual goals with organizational objectives, HR enhances productivity and innovation.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23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DE3B-A0A8-9843-47A8-EBF3E1D9D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Factors affecting worker motivation and behavior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B96BE-D120-770E-B56A-47458EDCB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Terms of service: Job security, salary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career prospects and opportunities for growth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alternative source of income due to heavy workload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infrastructure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Imbalances in workforce structure 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institutional environments can be more disabling than enabling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access to digital technology affects productivity and efficiency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</a:t>
            </a:r>
            <a:r>
              <a:rPr lang="en-US" dirty="0" smtClean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rgbClr val="22222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motivation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792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B884-F7D3-E793-7FB1-E0B4F375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6207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r>
              <a:rPr 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7D53-EF7D-999C-077E-0CE60388A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93" y="931333"/>
            <a:ext cx="11413067" cy="5842000"/>
          </a:xfrm>
        </p:spPr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strong sense of mission and sense of commitment to that mission by staff.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relatively high  reputation and social status accorded to those who work in the organization.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culture oriented towards results both individually and organizationally.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All members of the group are evaluated against performance objectives regularly and are expected, both by managers and by co-workers, to pull their weight; and the organization itself constantly evaluates its performance against external objectives and </a:t>
            </a:r>
            <a:r>
              <a:rPr lang="en-US" sz="3000" b="0" i="0" dirty="0" smtClean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benchmarks(performing workers should be rewarded to boost their morale while non performing should </a:t>
            </a:r>
            <a:r>
              <a:rPr lang="en-US" sz="3000" b="0" i="0" smtClean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 sanctioned ).</a:t>
            </a:r>
            <a:endParaRPr lang="en-US" sz="3000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3000" b="0" i="0" dirty="0">
                <a:solidFill>
                  <a:srgbClr val="333333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Lines of feedback from the end users of services are open and actively used to improve service delivery.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333333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30304-6569-835F-247B-7A33C7A2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Approaches to boosting workforce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C6F49-74D5-0666-2A57-2E3092A00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Optimising</a:t>
            </a: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employees performance and engagement 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Recruitment, training and development – ensuring that organisations harness the full potential of their workforce</a:t>
            </a:r>
          </a:p>
          <a:p>
            <a:pPr lvl="0"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Continous improvement of workforce aligning individual goals with organizational objectives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49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A416-EB42-0AA3-335B-FE04F2DF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Labor market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C73A7-179A-F478-1C88-AE42583CE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8933570" cy="49064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many countries, there is a huge disconnect between: 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need: the number of health workers needed to provide healthcare to everyone;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demand: the number of jobs a country’s government can create with the budget and funds it has;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supply: the number of trained health workers in the country that can potentially be recruited.</a:t>
            </a:r>
          </a:p>
        </p:txBody>
      </p:sp>
    </p:spTree>
    <p:extLst>
      <p:ext uri="{BB962C8B-B14F-4D97-AF65-F5344CB8AC3E}">
        <p14:creationId xmlns:p14="http://schemas.microsoft.com/office/powerpoint/2010/main" val="256058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2D70-3CE3-434E-4449-725A08E96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causes of the crisis include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BC84A-A73B-9A34-1CD9-5D65858B2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nadequate and inequitable distribution of health workers;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 staff turnover;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Weak development, planning and management of the health workforce;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Deficient information systems;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migration and high vacancy rates;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Insufficient education capacity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1A1A1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wages and working conditions to attract and retain people into health work, particularly in rural underserved areas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63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1128-087F-7986-2183-3DA4B01B5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Major causes of the crisis include</a:t>
            </a:r>
            <a:endParaRPr lang="en-US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EC52E-A4A3-2243-B074-0A332803B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Understand trend in the labor market enables Human Resource for health professionals to adapt recruitment and retention strategies.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Proactive engagement with the labor market helps organizations remain competitive and responsive to changing workforce needs.</a:t>
            </a:r>
          </a:p>
        </p:txBody>
      </p:sp>
    </p:spTree>
    <p:extLst>
      <p:ext uri="{BB962C8B-B14F-4D97-AF65-F5344CB8AC3E}">
        <p14:creationId xmlns:p14="http://schemas.microsoft.com/office/powerpoint/2010/main" val="613308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05B8-E6BA-F1BC-D2DA-1C4938AA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99800" cy="1085851"/>
          </a:xfrm>
        </p:spPr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Governance, Policy and Legislative frameworks</a:t>
            </a:r>
            <a:endParaRPr lang="en-US" sz="3600" dirty="0">
              <a:solidFill>
                <a:schemeClr val="tx2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38F3D-CFEC-4A25-491E-27418862E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4" y="1450976"/>
            <a:ext cx="10515600" cy="48787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functions are deeply intertwined with policy and legislative frameworks that govern employment.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Staying informed about labor laws and regulations enables HR to implement compliant practices, advocate for employee rights, and contribute to policy development.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robust HR policy framework helps mitigate risks and supports organizational goals.</a:t>
            </a:r>
          </a:p>
        </p:txBody>
      </p:sp>
    </p:spTree>
    <p:extLst>
      <p:ext uri="{BB962C8B-B14F-4D97-AF65-F5344CB8AC3E}">
        <p14:creationId xmlns:p14="http://schemas.microsoft.com/office/powerpoint/2010/main" val="158465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69F4B-26BD-50BA-BDB7-B5C8BD76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23CEC-08C9-E4D1-8F29-13D21E015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Politics, inertia and resistance to change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Poor communication, insufficient coordination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supporting organizational system, resources and capabilities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Uncontrollable environment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Unclear strategy, conflicting priorities and ineffective senior management team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leadership skills and development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474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B60A-EDF1-A72D-6094-D71123AF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>
            <a:normAutofit fontScale="90000"/>
          </a:bodyPr>
          <a:lstStyle/>
          <a:p>
            <a:r>
              <a:rPr lang="en-US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 strategies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E08B8-174A-A727-8D6E-E21648BF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7"/>
            <a:ext cx="10515600" cy="4771496"/>
          </a:xfrm>
        </p:spPr>
        <p:txBody>
          <a:bodyPr>
            <a:normAutofit fontScale="85000" lnSpcReduction="20000"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Development of strategic policy frameworks that articulate the Ministry of Health’s vision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Operationalizing policy frameworks through relevant policy instruments including legal instruments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 governance in HR ensures ethical practices and compliance with regulations.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departments must establish transparent policies and frameworks that promote fairness and accountability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Effective governance not only safeguards the organization against legal risks but also builds trust and fosters a positive workplace culture.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Call upon counties to strengthen the governance of their health systems for universal health coverage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582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ADD6-2198-1472-0862-1AE803A8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Mitigation strategies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6201-DBB9-994D-DE47-260758888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guidance on ways to enhance health systems governance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Support regions and counties in strengthening their health systems governance as needed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kern="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accountability and oversight mechanisms to ensure effective policy implementation and 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173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4C27-EDB2-DA99-B1FB-39924749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 fontScale="90000"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7C106-C2DF-0D2F-5D00-6C633C2C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0320"/>
            <a:ext cx="10515600" cy="4351338"/>
          </a:xfrm>
        </p:spPr>
        <p:txBody>
          <a:bodyPr>
            <a:normAutofit/>
          </a:bodyPr>
          <a:lstStyle/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Data-driven decision-making is increasingly vital in HR. By generating and analyzing workforce data, HR can identify trends, measure performance, and inform strategic planning.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Effective data management ensures that sensitive information is protected while maximizing its utility for talent management, workforce planning, and employee engagement initiatives. </a:t>
            </a:r>
          </a:p>
          <a:p>
            <a:pPr marR="0" indent="-4572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Leveraging data enhances HR's ability to drive organizational success.</a:t>
            </a:r>
          </a:p>
          <a:p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520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9150-615B-DDC1-7F61-DD7482FD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F1F7-D886-BA19-C085-F3CA44B5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4235"/>
          </a:xfrm>
        </p:spPr>
        <p:txBody>
          <a:bodyPr>
            <a:normAutofit fontScale="90000"/>
          </a:bodyPr>
          <a:lstStyle/>
          <a:p>
            <a:r>
              <a:rPr lang="en-US" sz="40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Generation, Usage, and Management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ACE0-85CA-AAED-D4A7-6B86AA59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360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Challenges: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resources to generate data that is clean, complete and accurate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analysis and poor data usage practices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Inadequate human and financial resources, lack of incentives and supervision, and lack of standard operating procedures on data management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Implementation of existing data protection policies and adhering to government compliance and regulatory rules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Hard-copy data especially in low resource settings</a:t>
            </a:r>
          </a:p>
          <a:p>
            <a:pPr lvl="1"/>
            <a:endParaRPr lang="en-US" sz="2800" dirty="0">
              <a:solidFill>
                <a:srgbClr val="21212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810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076A-3EE4-480E-D9B2-FE4441FC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3D1B-E496-889F-8799-B5EF1CF3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00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Solutions</a:t>
            </a:r>
            <a: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800" kern="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6644-8710-49DF-18A3-191CBE0D3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Developing complete, accurate, and updated  data is a key component of a successful data governance plan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Access to digital technologies for: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entry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management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security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Fraud technology detection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Provision of electronic data capture equipment in resource-limited settings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Adherence to legislative frameworks on data usage</a:t>
            </a:r>
          </a:p>
        </p:txBody>
      </p:sp>
    </p:spTree>
    <p:extLst>
      <p:ext uri="{BB962C8B-B14F-4D97-AF65-F5344CB8AC3E}">
        <p14:creationId xmlns:p14="http://schemas.microsoft.com/office/powerpoint/2010/main" val="2982485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0344-CED5-04A3-1677-AD09DD552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162"/>
            <a:ext cx="10515600" cy="3749675"/>
          </a:xfrm>
        </p:spPr>
        <p:txBody>
          <a:bodyPr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959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913</Words>
  <Application>Microsoft Office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Tahoma</vt:lpstr>
      <vt:lpstr>Wingdings</vt:lpstr>
      <vt:lpstr>Office Theme</vt:lpstr>
      <vt:lpstr>Human Resources for Health</vt:lpstr>
      <vt:lpstr>MISSION AND VISION</vt:lpstr>
      <vt:lpstr>Workforce production.</vt:lpstr>
      <vt:lpstr>Factors affecting worker motivation and behavior</vt:lpstr>
      <vt:lpstr> Approaches to boosting workforce performance </vt:lpstr>
      <vt:lpstr>Approaches to boosting workforce performance</vt:lpstr>
      <vt:lpstr>Labor market dynamics</vt:lpstr>
      <vt:lpstr>Major causes of the crisis include</vt:lpstr>
      <vt:lpstr>Major causes of the crisis include</vt:lpstr>
      <vt:lpstr>Governance, Policy and Legislative frameworks</vt:lpstr>
      <vt:lpstr>Challenges: </vt:lpstr>
      <vt:lpstr>Mitigation strategies </vt:lpstr>
      <vt:lpstr>Mitigation strategies</vt:lpstr>
      <vt:lpstr>Data Generation, Usage, and Management </vt:lpstr>
      <vt:lpstr>Data Generation, Usage, and Management </vt:lpstr>
      <vt:lpstr>Solutions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for Health</dc:title>
  <dc:creator>Jael Obiero</dc:creator>
  <cp:lastModifiedBy>Maimuna</cp:lastModifiedBy>
  <cp:revision>12</cp:revision>
  <dcterms:created xsi:type="dcterms:W3CDTF">2024-10-09T11:56:20Z</dcterms:created>
  <dcterms:modified xsi:type="dcterms:W3CDTF">2024-10-17T12:10:34Z</dcterms:modified>
</cp:coreProperties>
</file>