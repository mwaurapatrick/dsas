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07E9-E055-454A-993A-12815A4F9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DBF05-0F4B-48E6-B494-9586E5580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6D463-782B-4F1C-A95A-DD7ACAAF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1D6AA-43E0-481D-988B-D03DEB59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A751C-3D24-4CC5-A32A-1706AADD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6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FB3C-AA0B-403D-9912-6E81C9F9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164F0-B1B0-43B1-971D-FD627408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69354-8168-49AC-8C37-21C0A756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3812E-E069-479E-B73C-A43741DA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6C5B-95FC-45D4-A7C4-E9B379A3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3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823A-3485-4184-ABBD-B56FEF1F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1A006-DAB4-4DAF-B124-43130AF19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D301D-2FA7-4B1F-A0B9-04150C19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18534-99B0-4A0C-88F9-17D62A92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50E4-7087-40D6-BAFB-310209C9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25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3BF1-E233-4B8C-B9C2-E0C33A08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92943-A1DD-4A99-A265-5541F3FFE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03A71-988D-4DA8-AC15-CE65BB1E3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E7989-B660-4CF6-BE21-2B330DA1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82B19-B588-4E65-B7BC-A49BFFD0A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42097-49CC-4463-B875-1AEF9EFF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1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0E8C-8F16-4F3A-8C8E-EAB3BA34A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37CAB-DF3F-4996-AECB-45302D3BA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41B73-87E8-45A0-AE72-5C62E3303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AC37E-3A05-484E-9618-BE1DD648B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E8C3E-E6AC-42F6-9495-DCAA223B0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1B96C-B677-4BB4-83F6-3BFF4F12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EF8FF-07D5-404A-B286-DD4ECF381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27076-FD2F-46C7-8C1F-322B9A04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5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10B7-CFF7-4F14-9A3A-B0DC9D61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4202E-616A-454D-93FA-DFE525D2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84FD5-39F0-4690-9564-72CF81FD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553BF-7287-4A08-93F3-5934CEE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9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081ED-4237-4C39-853E-60ADBBF6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21E28-B692-48FB-B2AC-8ACC1551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0992B-86BE-4678-8DB1-1C6F1EFB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8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0B87-2D37-4BCE-9444-3D5EC6E5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F617-77D3-470D-B953-DFF883FA5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440D3-A829-4360-8487-2F7022F38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1A9A-53D2-43F8-87D5-5248EBB7C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8F7B2-F046-47A8-9704-432DCF63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98D0D-508B-4A7F-AD02-C5705207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6C63-1EEC-45A5-B4BD-2A157F39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F901C-2F55-4D52-B054-13642017A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AAC32-6969-418D-9602-2ACF0F161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05633-5349-4E3D-9D81-CEB19704B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F1FF0-DFE6-4556-AAA6-B4DA9D06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C89F6-2394-4B5A-AFDD-D7A45674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62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555B-F447-45F0-8C70-5EDE52A6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BAF1B-F959-4BCD-B00D-2A6036993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79F2F-D6FC-4EA0-923E-8A345399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E21FB-6686-4217-9A77-9213808E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74707-A824-4BF5-A3F3-85F404C9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8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039715-9418-42C2-9DB4-D7228EA1F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F6260-163E-4633-9E52-F99CA7E8E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87207-4070-4CD8-94DA-2622CC1C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263BE-B110-48FC-BAD4-5FD1A8B0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64190-ECBD-4655-B519-5FA33F08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8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4E912-561F-4DB4-8A4A-B4096393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031FD-C39F-4A09-9A2C-91B348C65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9DB47-1ED7-4F4F-8596-17AC7FB87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B622B-0538-44A3-8CCF-63AABACB8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F3CAE-AC60-4260-B5C4-B9C663397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55F73-ED52-4255-8C44-8CD68B92A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195BE-75B1-4208-9B83-B665AF11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9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88A9D-4012-4C3D-B3B8-E6B048261C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Kenya Institute of Primate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1E415-5FDF-4EDB-A919-FD1B6E23D5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Supply Chain Management Work Plan 2026/2027</a:t>
            </a:r>
          </a:p>
        </p:txBody>
      </p:sp>
    </p:spTree>
    <p:extLst>
      <p:ext uri="{BB962C8B-B14F-4D97-AF65-F5344CB8AC3E}">
        <p14:creationId xmlns:p14="http://schemas.microsoft.com/office/powerpoint/2010/main" val="410984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F435-961A-4A61-A619-E684A4F415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Strategic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14021-C0F7-4D18-BB7F-48FD49CE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 IMPROVE SUPPLY CHAIN MANAGEMENT</a:t>
            </a:r>
          </a:p>
        </p:txBody>
      </p:sp>
    </p:spTree>
    <p:extLst>
      <p:ext uri="{BB962C8B-B14F-4D97-AF65-F5344CB8AC3E}">
        <p14:creationId xmlns:p14="http://schemas.microsoft.com/office/powerpoint/2010/main" val="373355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B5CE-7B4D-4783-8809-B2821E8A0E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Spearhead Development of Procurement Plan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B2C21DD-08EE-48B0-B098-DF29A44B0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15095"/>
              </p:ext>
            </p:extLst>
          </p:nvPr>
        </p:nvGraphicFramePr>
        <p:xfrm>
          <a:off x="0" y="1854200"/>
          <a:ext cx="12192000" cy="4900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955">
                  <a:extLst>
                    <a:ext uri="{9D8B030D-6E8A-4147-A177-3AD203B41FA5}">
                      <a16:colId xmlns:a16="http://schemas.microsoft.com/office/drawing/2014/main" val="2473836386"/>
                    </a:ext>
                  </a:extLst>
                </a:gridCol>
                <a:gridCol w="2653475">
                  <a:extLst>
                    <a:ext uri="{9D8B030D-6E8A-4147-A177-3AD203B41FA5}">
                      <a16:colId xmlns:a16="http://schemas.microsoft.com/office/drawing/2014/main" val="367262716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92709569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56587496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972171976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191193966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18468115"/>
                    </a:ext>
                  </a:extLst>
                </a:gridCol>
              </a:tblGrid>
              <a:tr h="1032823">
                <a:tc>
                  <a:txBody>
                    <a:bodyPr/>
                    <a:lstStyle/>
                    <a:p>
                      <a:r>
                        <a:rPr lang="en-US" dirty="0"/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Perfomance</a:t>
                      </a:r>
                      <a:r>
                        <a:rPr lang="en-US" dirty="0"/>
                        <a:t>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 to the </a:t>
                      </a:r>
                      <a:r>
                        <a:rPr lang="en-US" dirty="0" err="1"/>
                        <a:t>Kipre</a:t>
                      </a:r>
                      <a:r>
                        <a:rPr lang="en-US" dirty="0"/>
                        <a:t> Core Mandate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552912"/>
                  </a:ext>
                </a:extLst>
              </a:tr>
              <a:tr h="2396177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Consolidate Directorate plans in the e-GP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Approved KIPRE procurement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of approved procurement plans in the e-GP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Helps in: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Planning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Budgetting</a:t>
                      </a:r>
                      <a:r>
                        <a:rPr lang="en-US" dirty="0"/>
                        <a:t> and Resource allocation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Transparency and Accountability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294793"/>
                  </a:ext>
                </a:extLst>
              </a:tr>
              <a:tr h="103282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Submission of Procurement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PPRA Report</a:t>
                      </a:r>
                    </a:p>
                    <a:p>
                      <a:r>
                        <a:rPr lang="en-US" dirty="0"/>
                        <a:t>Local goods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of Reports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Compliance (Section 157 of PPADA 2015)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925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40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97C5F-48BF-4946-A6D0-F9B0DF796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1"/>
            <a:ext cx="9144000" cy="13716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Asset and Inventory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F3376-A927-4AA4-9022-B37674EF06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DBE7324-AB6D-4954-9031-5AF35154B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78939"/>
              </p:ext>
            </p:extLst>
          </p:nvPr>
        </p:nvGraphicFramePr>
        <p:xfrm>
          <a:off x="-8467" y="1828801"/>
          <a:ext cx="12200467" cy="934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164">
                  <a:extLst>
                    <a:ext uri="{9D8B030D-6E8A-4147-A177-3AD203B41FA5}">
                      <a16:colId xmlns:a16="http://schemas.microsoft.com/office/drawing/2014/main" val="3274351634"/>
                    </a:ext>
                  </a:extLst>
                </a:gridCol>
                <a:gridCol w="2115642">
                  <a:extLst>
                    <a:ext uri="{9D8B030D-6E8A-4147-A177-3AD203B41FA5}">
                      <a16:colId xmlns:a16="http://schemas.microsoft.com/office/drawing/2014/main" val="815365434"/>
                    </a:ext>
                  </a:extLst>
                </a:gridCol>
                <a:gridCol w="2351805">
                  <a:extLst>
                    <a:ext uri="{9D8B030D-6E8A-4147-A177-3AD203B41FA5}">
                      <a16:colId xmlns:a16="http://schemas.microsoft.com/office/drawing/2014/main" val="2087295534"/>
                    </a:ext>
                  </a:extLst>
                </a:gridCol>
                <a:gridCol w="2479729">
                  <a:extLst>
                    <a:ext uri="{9D8B030D-6E8A-4147-A177-3AD203B41FA5}">
                      <a16:colId xmlns:a16="http://schemas.microsoft.com/office/drawing/2014/main" val="3526971120"/>
                    </a:ext>
                  </a:extLst>
                </a:gridCol>
                <a:gridCol w="944658">
                  <a:extLst>
                    <a:ext uri="{9D8B030D-6E8A-4147-A177-3AD203B41FA5}">
                      <a16:colId xmlns:a16="http://schemas.microsoft.com/office/drawing/2014/main" val="4137024203"/>
                    </a:ext>
                  </a:extLst>
                </a:gridCol>
                <a:gridCol w="1248002">
                  <a:extLst>
                    <a:ext uri="{9D8B030D-6E8A-4147-A177-3AD203B41FA5}">
                      <a16:colId xmlns:a16="http://schemas.microsoft.com/office/drawing/2014/main" val="1578260151"/>
                    </a:ext>
                  </a:extLst>
                </a:gridCol>
                <a:gridCol w="2294467">
                  <a:extLst>
                    <a:ext uri="{9D8B030D-6E8A-4147-A177-3AD203B41FA5}">
                      <a16:colId xmlns:a16="http://schemas.microsoft.com/office/drawing/2014/main" val="239744880"/>
                    </a:ext>
                  </a:extLst>
                </a:gridCol>
              </a:tblGrid>
              <a:tr h="1298117">
                <a:tc>
                  <a:txBody>
                    <a:bodyPr/>
                    <a:lstStyle/>
                    <a:p>
                      <a:r>
                        <a:rPr lang="en-US" sz="1600" dirty="0"/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Performance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Estimated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Impact to the KIPRE Core Mandate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18643"/>
                  </a:ext>
                </a:extLst>
              </a:tr>
              <a:tr h="42617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 inventory register on ERP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Updated Inventory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Inventory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Cost management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Good management of assets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Tracking and Accountability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134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Annual and periodic stock taking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Updated stock records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Developed list of stock and assets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Updated bin cards and store reports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Board of Survey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1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0.5M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Determining Financial position of the Institute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Operational Efficiency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Determines condition and physical presence of the assets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560355"/>
                  </a:ext>
                </a:extLst>
              </a:tr>
              <a:tr h="22703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Submission of Asset Management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Quarterly asset management reports (National Treasury)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of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Compliance(Public Finance Management Act section 72,81,164 and Donor regulations)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020333"/>
                  </a:ext>
                </a:extLst>
              </a:tr>
              <a:tr h="135592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Asset Tagging Using radio </a:t>
                      </a:r>
                      <a:r>
                        <a:rPr lang="en-US"/>
                        <a:t>frequency Identification (RFID)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Assets tagged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of asset tagged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Tracking and Accountability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Compliance and Audits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Financial Management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Risk mitigation through theft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050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60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58E5-3289-42CC-9255-A0530A52B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800"/>
            <a:ext cx="9144000" cy="122766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Development of Institutional Annual Disposal Plan (ADP)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43849-DC84-4299-B84C-8187F01BB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74800"/>
            <a:ext cx="9144000" cy="368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DE4133B-28E9-4720-A6E5-7A879500F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960313"/>
              </p:ext>
            </p:extLst>
          </p:nvPr>
        </p:nvGraphicFramePr>
        <p:xfrm>
          <a:off x="0" y="1574799"/>
          <a:ext cx="12191998" cy="5799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176947872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22529416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637801416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46075389"/>
                    </a:ext>
                  </a:extLst>
                </a:gridCol>
                <a:gridCol w="864811">
                  <a:extLst>
                    <a:ext uri="{9D8B030D-6E8A-4147-A177-3AD203B41FA5}">
                      <a16:colId xmlns:a16="http://schemas.microsoft.com/office/drawing/2014/main" val="359194628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634042273"/>
                    </a:ext>
                  </a:extLst>
                </a:gridCol>
                <a:gridCol w="3242731">
                  <a:extLst>
                    <a:ext uri="{9D8B030D-6E8A-4147-A177-3AD203B41FA5}">
                      <a16:colId xmlns:a16="http://schemas.microsoft.com/office/drawing/2014/main" val="4111892841"/>
                    </a:ext>
                  </a:extLst>
                </a:gridCol>
              </a:tblGrid>
              <a:tr h="1227666">
                <a:tc>
                  <a:txBody>
                    <a:bodyPr/>
                    <a:lstStyle/>
                    <a:p>
                      <a:r>
                        <a:rPr lang="en-US" sz="1600" dirty="0"/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Perfomance</a:t>
                      </a:r>
                      <a:r>
                        <a:rPr lang="en-US" sz="1600" dirty="0"/>
                        <a:t>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Estimated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Impact to the KIPRE Core Mandate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138799"/>
                  </a:ext>
                </a:extLst>
              </a:tr>
              <a:tr h="122766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Consolidate Directorate ADPs’ in the e-GP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Approved KIPRE Annual Disposal Plan (ADP)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of assets disposed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Compliance with laws and regulations and donor guidelines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Optimizes space utilization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Reduce operation cost, maintenance and storage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Protect health safety and environment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Accurate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312414"/>
                  </a:ext>
                </a:extLst>
              </a:tr>
              <a:tr h="122766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 and implement asset and liability management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Asset management and liability management policy developed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Compliance with treasury requirement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Good financial and asset  management</a:t>
                      </a:r>
                    </a:p>
                    <a:p>
                      <a:r>
                        <a:rPr lang="en-US" dirty="0"/>
                        <a:t>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143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84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82DF-5349-4780-A24B-3DC881654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6305"/>
            <a:ext cx="9144000" cy="11985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VENDOR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2FF4D-CEC6-42DF-A687-20E4C6E1C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84868"/>
            <a:ext cx="9144000" cy="3005666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C1E887F-3C75-4D10-9155-E226FE474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740238"/>
              </p:ext>
            </p:extLst>
          </p:nvPr>
        </p:nvGraphicFramePr>
        <p:xfrm>
          <a:off x="0" y="1684868"/>
          <a:ext cx="12191998" cy="3963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116466234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61708679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32172547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4231424"/>
                    </a:ext>
                  </a:extLst>
                </a:gridCol>
                <a:gridCol w="830944">
                  <a:extLst>
                    <a:ext uri="{9D8B030D-6E8A-4147-A177-3AD203B41FA5}">
                      <a16:colId xmlns:a16="http://schemas.microsoft.com/office/drawing/2014/main" val="301312768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83031766"/>
                    </a:ext>
                  </a:extLst>
                </a:gridCol>
                <a:gridCol w="3174998">
                  <a:extLst>
                    <a:ext uri="{9D8B030D-6E8A-4147-A177-3AD203B41FA5}">
                      <a16:colId xmlns:a16="http://schemas.microsoft.com/office/drawing/2014/main" val="305286585"/>
                    </a:ext>
                  </a:extLst>
                </a:gridCol>
              </a:tblGrid>
              <a:tr h="1250244">
                <a:tc>
                  <a:txBody>
                    <a:bodyPr/>
                    <a:lstStyle/>
                    <a:p>
                      <a:r>
                        <a:rPr lang="en-US" sz="1600" dirty="0"/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Performance </a:t>
                      </a:r>
                      <a:r>
                        <a:rPr lang="en-US" sz="1600" dirty="0"/>
                        <a:t>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Estimated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Impact to the KIPRE Core Mandate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35133"/>
                  </a:ext>
                </a:extLst>
              </a:tr>
              <a:tr h="125024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of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 list of Prequalified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Prequalified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Streamline procurement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Create partnerships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Public confidence through  fairness, competition. and Transparency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105752"/>
                  </a:ext>
                </a:extLst>
              </a:tr>
              <a:tr h="125024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Contract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Approved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Approved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Build relationships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Optimizes value through negotiations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Service delivery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115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640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A6DB-B55D-43B4-84DC-4621BF987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3400"/>
            <a:ext cx="9144000" cy="94826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Trainings</a:t>
            </a:r>
            <a:r>
              <a:rPr lang="en-US" sz="3600">
                <a:solidFill>
                  <a:srgbClr val="FF0000"/>
                </a:solidFill>
              </a:rPr>
              <a:t>/workshops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0F6B0-2FB0-4805-B7D9-2D08D8D95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81668"/>
            <a:ext cx="12191998" cy="2396065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9AD414-A350-4A37-A02D-7F9062FA6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214523"/>
              </p:ext>
            </p:extLst>
          </p:nvPr>
        </p:nvGraphicFramePr>
        <p:xfrm>
          <a:off x="0" y="1481668"/>
          <a:ext cx="12191998" cy="2459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79945206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5410391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1257625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469026379"/>
                    </a:ext>
                  </a:extLst>
                </a:gridCol>
                <a:gridCol w="890211">
                  <a:extLst>
                    <a:ext uri="{9D8B030D-6E8A-4147-A177-3AD203B41FA5}">
                      <a16:colId xmlns:a16="http://schemas.microsoft.com/office/drawing/2014/main" val="1379728933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826682551"/>
                    </a:ext>
                  </a:extLst>
                </a:gridCol>
                <a:gridCol w="2379131">
                  <a:extLst>
                    <a:ext uri="{9D8B030D-6E8A-4147-A177-3AD203B41FA5}">
                      <a16:colId xmlns:a16="http://schemas.microsoft.com/office/drawing/2014/main" val="3162481332"/>
                    </a:ext>
                  </a:extLst>
                </a:gridCol>
              </a:tblGrid>
              <a:tr h="1007532">
                <a:tc>
                  <a:txBody>
                    <a:bodyPr/>
                    <a:lstStyle/>
                    <a:p>
                      <a:r>
                        <a:rPr lang="en-US" sz="1600" dirty="0"/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Perfomance</a:t>
                      </a:r>
                      <a:r>
                        <a:rPr lang="en-US" sz="1600" dirty="0"/>
                        <a:t>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Estimated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Impact to the KIPRE Core Mandate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21414"/>
                  </a:ext>
                </a:extLst>
              </a:tr>
              <a:tr h="14520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Professional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Attend Professional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trainings attended/certificates/points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Improve professional skills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compliance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921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5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470</Words>
  <Application>Microsoft Office PowerPoint</Application>
  <PresentationFormat>Widescreen</PresentationFormat>
  <Paragraphs>151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Kenya Institute of Primate Research</vt:lpstr>
      <vt:lpstr>Strategic Objective</vt:lpstr>
      <vt:lpstr>Spearhead Development of Procurement Plan</vt:lpstr>
      <vt:lpstr>Asset and Inventory Management</vt:lpstr>
      <vt:lpstr>Development of Institutional Annual Disposal Plan (ADP)</vt:lpstr>
      <vt:lpstr>VENDOR MANAGEMENT</vt:lpstr>
      <vt:lpstr>Trainings/workshops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Kenya Institute of Primate Research</dc:title>
  <dc:creator>SUPPLIES</dc:creator>
  <cp:lastModifiedBy>SUPPLIES</cp:lastModifiedBy>
  <cp:revision>53</cp:revision>
  <dcterms:created xsi:type="dcterms:W3CDTF">2026-03-03T10:05:38Z</dcterms:created>
  <dcterms:modified xsi:type="dcterms:W3CDTF">2026-03-04T12:27:12Z</dcterms:modified>
</cp:coreProperties>
</file>