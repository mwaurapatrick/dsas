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67" r:id="rId3"/>
    <p:sldId id="258" r:id="rId4"/>
    <p:sldId id="268" r:id="rId5"/>
    <p:sldId id="257" r:id="rId6"/>
    <p:sldId id="269" r:id="rId7"/>
    <p:sldId id="259" r:id="rId8"/>
    <p:sldId id="270" r:id="rId9"/>
    <p:sldId id="260" r:id="rId10"/>
    <p:sldId id="264" r:id="rId11"/>
    <p:sldId id="271" r:id="rId12"/>
    <p:sldId id="261" r:id="rId13"/>
    <p:sldId id="272" r:id="rId14"/>
    <p:sldId id="263" r:id="rId15"/>
    <p:sldId id="265" r:id="rId16"/>
    <p:sldId id="26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 snapToGrid="0">
      <p:cViewPr varScale="1">
        <p:scale>
          <a:sx n="58" d="100"/>
          <a:sy n="58" d="100"/>
        </p:scale>
        <p:origin x="237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0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0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6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4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8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5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7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6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638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91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3628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71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78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4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F22A-D917-4813-9177-0CF59E9625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8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8E75-102C-DC43-9D32-29204C7C6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055" y="2908458"/>
            <a:ext cx="9144000" cy="1041083"/>
          </a:xfrm>
        </p:spPr>
        <p:txBody>
          <a:bodyPr/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Resources for Health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AC199-925D-0A52-40C9-AC8C90466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00786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</a:t>
            </a:r>
            <a:r>
              <a:rPr lang="en-US" sz="2800" b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Maimuna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Juma</a:t>
            </a:r>
          </a:p>
          <a:p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Kenya Institute of Primate Research</a:t>
            </a:r>
          </a:p>
          <a:p>
            <a:endParaRPr lang="en-US" sz="2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18/10/24</a:t>
            </a:r>
          </a:p>
        </p:txBody>
      </p:sp>
      <p:pic>
        <p:nvPicPr>
          <p:cNvPr id="7" name="Picture 6" descr="A monkey sitting on a log next to a waterfall&#10;&#10;Description automatically generated">
            <a:extLst>
              <a:ext uri="{FF2B5EF4-FFF2-40B4-BE49-F238E27FC236}">
                <a16:creationId xmlns:a16="http://schemas.microsoft.com/office/drawing/2014/main" id="{D049C9D7-E829-993C-12E0-24251C66F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r="69783"/>
          <a:stretch/>
        </p:blipFill>
        <p:spPr>
          <a:xfrm>
            <a:off x="871351" y="0"/>
            <a:ext cx="3021496" cy="2114845"/>
          </a:xfrm>
          <a:prstGeom prst="rect">
            <a:avLst/>
          </a:prstGeom>
        </p:spPr>
      </p:pic>
      <p:pic>
        <p:nvPicPr>
          <p:cNvPr id="8" name="Picture 8" descr="Government of Kenya Logo PNG vector in SVG, PDF, AI, CDR format">
            <a:extLst>
              <a:ext uri="{FF2B5EF4-FFF2-40B4-BE49-F238E27FC236}">
                <a16:creationId xmlns:a16="http://schemas.microsoft.com/office/drawing/2014/main" id="{77F90B4F-BC24-98F0-D810-AE2615EF9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2557" y="0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91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8367-92E6-B255-9BF8-042D0319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AND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A3703-1222-A95F-F6B8-44D317B1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 Statement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Innovative research and conservation for better human health</a:t>
            </a:r>
          </a:p>
          <a:p>
            <a:pPr marL="0" indent="0">
              <a:buNone/>
            </a:pPr>
            <a:endParaRPr lang="en-US" sz="2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Statement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promote public health through innovative preclinical &amp; biomedical research, training and biodiversity conservation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3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8ED1-3FE5-39DF-820E-D4702067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375285"/>
            <a:ext cx="8763000" cy="8032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Workforce production.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54F9-CC30-F06C-CEE9-34BBBCE1A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117856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 play a pivotal role in workforce production by optimizing employees performance and engagements.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hr strategies focus on recruitments, training and development ensuring that organization harness the full potential of their work force by fostering a culture of continuous improvements and aligning individual goals with organizational objectives, HR enhances productivity and innovation.</a:t>
            </a:r>
            <a:b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3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DE3B-A0A8-9843-47A8-EBF3E1D9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 affecting worker motivation and behavior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96BE-D120-770E-B56A-47458EDC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1930400"/>
            <a:ext cx="8674234" cy="41262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Terms of service: Job security, salary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career prospects and opportunities for growth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alternative source of income due to heavy workload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infrastructure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Imbalances in workforce structure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institutional environments can be more disabling than enabling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access to digital technology affects productivity and efficiency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funding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79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B884-F7D3-E793-7FB1-E0B4F375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86" y="-305647"/>
            <a:ext cx="10385214" cy="611293"/>
          </a:xfrm>
        </p:spPr>
        <p:txBody>
          <a:bodyPr>
            <a:normAutofit fontScale="90000"/>
          </a:bodyPr>
          <a:lstStyle/>
          <a:p>
            <a:b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to boosting workforce performance</a:t>
            </a:r>
            <a:br>
              <a:rPr lang="en-US" sz="280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7D53-EF7D-999C-077E-0CE60388A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46" y="900853"/>
            <a:ext cx="11413067" cy="5842000"/>
          </a:xfrm>
        </p:spPr>
        <p:txBody>
          <a:bodyPr>
            <a:normAutofit fontScale="92500" lnSpcReduction="2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strong sense of mission and sense of commitment to that mission by staff.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relatively high  reputation and social status accorded to those who work in the organization.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culture oriented towards results both individually and organizationally.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All members of the group are evaluated against performance objectives regularly and are expected, both by managers and by co-workers, to pull their weight; and the organization itself constantly evaluates its performance against external objectives and benchmarks(performing workers should be rewarded to boost their morale while non performing should be sanctioned ).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Lines of feedback from the end users of services are open and actively used to improve service delivery.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0304-6569-835F-247B-7A33C7A2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to boosting workforce performance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6F49-74D5-0666-2A57-2E3092A0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930401"/>
            <a:ext cx="8847282" cy="4110962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Optimizing employees performance and engagement 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Recruitment, training and development – ensuring that organisations harness the full potential of their workforce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Continous improvement of workforce aligning individual goals with organizational objectives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74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A416-EB42-0AA3-335B-FE04F2DF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Labor market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C73A7-179A-F478-1C88-AE42583CE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049"/>
            <a:ext cx="8933570" cy="4906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many countries, there is a huge disconnect between: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 the number of health workers needed to provide healthcare to everyone;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demand: the number of jobs a country’s government can create with the budget and funds it has;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supply: the number of trained health workers in the country that can potentially be recruited.</a:t>
            </a:r>
          </a:p>
        </p:txBody>
      </p:sp>
    </p:spTree>
    <p:extLst>
      <p:ext uri="{BB962C8B-B14F-4D97-AF65-F5344CB8AC3E}">
        <p14:creationId xmlns:p14="http://schemas.microsoft.com/office/powerpoint/2010/main" val="256058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2D70-3CE3-434E-4449-725A08E9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causes of the crisis include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BC84A-A73B-9A34-1CD9-5D65858B2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nadequate and inequitable distribution of health workers;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High staff turnover;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Weak development, planning and management of the health workforce;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Deficient information systems;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migration and high vacancy rates;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Insufficient education capacity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wages and working conditions to attract and retain people into health work, particularly in rural underserved areas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6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1128-087F-7986-2183-3DA4B01B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 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EC52E-A4A3-2243-B074-0A332803B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trend in the labor market enables Human Resource for health professionals to adapt recruitment and retention strategies.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Proactive engagement with the labor market helps organizations remain competitive and responsive to changing workforce needs.</a:t>
            </a:r>
          </a:p>
        </p:txBody>
      </p:sp>
    </p:spTree>
    <p:extLst>
      <p:ext uri="{BB962C8B-B14F-4D97-AF65-F5344CB8AC3E}">
        <p14:creationId xmlns:p14="http://schemas.microsoft.com/office/powerpoint/2010/main" val="61330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05B8-E6BA-F1BC-D2DA-1C4938AA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296299"/>
            <a:ext cx="11099800" cy="1085851"/>
          </a:xfrm>
        </p:spPr>
        <p:txBody>
          <a:bodyPr>
            <a:normAutofit/>
          </a:bodyPr>
          <a:lstStyle/>
          <a:p>
            <a:r>
              <a:rPr lang="en-US" sz="36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Governance, Policy and Legislative frameworks</a:t>
            </a:r>
            <a:endParaRPr lang="en-US" sz="3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8F3D-CFEC-4A25-491E-27418862E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4" y="1450976"/>
            <a:ext cx="10515600" cy="48787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functions are deeply intertwined with policy and legislative frameworks that govern employment.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Staying informed about labor laws and regulations enables HR to implement compliant practices, advocate for employee rights, and contribute to policy development.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robust HR policy framework helps mitigate risks and supports organizational goals.</a:t>
            </a:r>
          </a:p>
        </p:txBody>
      </p:sp>
    </p:spTree>
    <p:extLst>
      <p:ext uri="{BB962C8B-B14F-4D97-AF65-F5344CB8AC3E}">
        <p14:creationId xmlns:p14="http://schemas.microsoft.com/office/powerpoint/2010/main" val="15846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9F4B-26BD-50BA-BDB7-B5C8BD76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</a:t>
            </a:r>
            <a:r>
              <a:rPr lang="en-US" sz="3600" b="1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b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3CEC-08C9-E4D1-8F29-13D21E0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Politics, inertia and resistance to change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communication, insufficient coordination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supporting organizational system, resources and capabilities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Uncontrollable environment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Unclear strategy, conflicting priorities and ineffective senior management team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leadership skills and development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7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B60A-EDF1-A72D-6094-D71123AF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>
            <a:normAutofit fontScale="90000"/>
          </a:bodyPr>
          <a:lstStyle/>
          <a:p>
            <a:r>
              <a:rPr lang="en-US" sz="40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</a:t>
            </a:r>
            <a:r>
              <a:rPr lang="en-US" sz="4000" b="1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br>
              <a:rPr lang="en-US" sz="2800" kern="1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08B8-174A-A727-8D6E-E21648BF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7"/>
            <a:ext cx="10515600" cy="4771496"/>
          </a:xfrm>
        </p:spPr>
        <p:txBody>
          <a:bodyPr>
            <a:normAutofit fontScale="85000" lnSpcReduction="20000"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of strategic policy frameworks that articulate the Ministry of Health’s vision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Operationalizing policy frameworks through relevant policy instruments including legal instruments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 governance in HR ensures ethical practices and compliance with regulations.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departments must establish transparent policies and frameworks that promote fairness and accountability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Effective governance not only safeguards the organization against legal risks but also builds trust and fosters a positive workplace culture.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 upon counties to strengthen the governance of their health systems for universal health coverage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58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ADD6-2198-1472-0862-1AE803A8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</a:t>
            </a:r>
            <a:r>
              <a:rPr lang="en-US" sz="3600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strategies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6201-DBB9-994D-DE47-260758888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guidance on ways to enhance health systems governance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regions and counties in strengthening their health systems governance as needed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accountability and oversight mechanisms to ensure effective policy implementation and impact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117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4C27-EDB2-DA99-B1FB-39924749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 fontScale="90000"/>
          </a:bodyPr>
          <a:lstStyle/>
          <a:p>
            <a:r>
              <a:rPr lang="en-US" sz="36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Generation, Usage, and Management</a:t>
            </a:r>
            <a:br>
              <a:rPr lang="en-US" sz="2800" kern="1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C106-C2DF-0D2F-5D00-6C633C2C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7440"/>
            <a:ext cx="10515600" cy="4351338"/>
          </a:xfrm>
        </p:spPr>
        <p:txBody>
          <a:bodyPr>
            <a:normAutofit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Data-driven decision-making is increasingly vital in HR. By generating and analyzing workforce data, HR can identify trends, measure performance, and inform strategic planning.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data management ensures that sensitive information is protected while maximizing its utility for talent management, workforce planning, and employee engagement initiatives.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Leveraging data enhances HR's ability to drive organizational success.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52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9150-615B-DDC1-7F61-DD7482FD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F1F7-D886-BA19-C085-F3CA44B5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>
            <a:normAutofit fontScale="90000"/>
          </a:bodyPr>
          <a:lstStyle/>
          <a:p>
            <a:r>
              <a:rPr lang="en-US" sz="40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Generation, Usage, and Management</a:t>
            </a:r>
            <a:br>
              <a:rPr lang="en-US" sz="2800" kern="1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ACE0-85CA-AAED-D4A7-6B86AA59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22936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resources to generate data that is clean, complete and accurate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analysis and poor data usage practices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human and financial resources, lack of incentives and supervision, and lack of standard operating procedures on data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of existing data protection policies and adhering to government compliance and regulatory rules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Hard-copy data especially in low resource settings</a:t>
            </a:r>
          </a:p>
          <a:p>
            <a:pPr lvl="1"/>
            <a:endParaRPr lang="en-US" sz="2800" dirty="0">
              <a:solidFill>
                <a:srgbClr val="21212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81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076A-3EE4-480E-D9B2-FE4441FC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3D1B-E496-889F-8799-B5EF1CF3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kern="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</a:t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6644-8710-49DF-18A3-191CBE0D3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27000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Developing complete, accurate, and updated  data is a key component of a successful data governance plan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to digital technologies for: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entry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management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security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Fraud technology detection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Provision of electronic data capture equipment in resource-limited settings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Adherence to legislative frameworks on data usage</a:t>
            </a:r>
          </a:p>
        </p:txBody>
      </p:sp>
    </p:spTree>
    <p:extLst>
      <p:ext uri="{BB962C8B-B14F-4D97-AF65-F5344CB8AC3E}">
        <p14:creationId xmlns:p14="http://schemas.microsoft.com/office/powerpoint/2010/main" val="298248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0344-CED5-04A3-1677-AD09DD55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162"/>
            <a:ext cx="10515600" cy="3749675"/>
          </a:xfrm>
        </p:spPr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959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357</TotalTime>
  <Words>907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Tahoma</vt:lpstr>
      <vt:lpstr>Trebuchet MS</vt:lpstr>
      <vt:lpstr>Wingdings</vt:lpstr>
      <vt:lpstr>Wingdings 3</vt:lpstr>
      <vt:lpstr>Facet</vt:lpstr>
      <vt:lpstr>Human Resources for Health</vt:lpstr>
      <vt:lpstr>MISSION AND VISION</vt:lpstr>
      <vt:lpstr>Workforce production.</vt:lpstr>
      <vt:lpstr>Factors affecting worker motivation and behavior</vt:lpstr>
      <vt:lpstr> Approaches to boosting workforce performance </vt:lpstr>
      <vt:lpstr>Approaches to boosting workforce performance</vt:lpstr>
      <vt:lpstr>Labor market dynamics</vt:lpstr>
      <vt:lpstr>Major causes of the crisis include</vt:lpstr>
      <vt:lpstr>Recommendation  .</vt:lpstr>
      <vt:lpstr>Governance, Policy and Legislative frameworks</vt:lpstr>
      <vt:lpstr>Challenges: </vt:lpstr>
      <vt:lpstr>Mitigation strategies </vt:lpstr>
      <vt:lpstr>Mitigation strategies</vt:lpstr>
      <vt:lpstr>Data Generation, Usage, and Management </vt:lpstr>
      <vt:lpstr>Data Generation, Usage, and Management </vt:lpstr>
      <vt:lpstr>Solutions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for Health</dc:title>
  <dc:creator>Jael Obiero</dc:creator>
  <cp:lastModifiedBy>user 2</cp:lastModifiedBy>
  <cp:revision>17</cp:revision>
  <dcterms:created xsi:type="dcterms:W3CDTF">2024-10-09T11:56:20Z</dcterms:created>
  <dcterms:modified xsi:type="dcterms:W3CDTF">2024-10-18T05:11:37Z</dcterms:modified>
</cp:coreProperties>
</file>